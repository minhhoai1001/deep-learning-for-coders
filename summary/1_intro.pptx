
<file path=[Content_Types].xml><?xml version="1.0" encoding="utf-8"?>
<Types xmlns="http://schemas.openxmlformats.org/package/2006/content-types">
  <Default Extension="png" ContentType="image/png"/>
  <Default Extension="web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3" r:id="rId2"/>
    <p:sldId id="256"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1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7F8283-A0BC-4022-8C4D-300EF3F5C9A0}" type="datetimeFigureOut">
              <a:rPr lang="en-US" smtClean="0"/>
              <a:t>9/13/2020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44D043-EC59-4F24-816D-006A1FE41613}" type="slidenum">
              <a:rPr lang="en-US" smtClean="0"/>
              <a:t>‹#›</a:t>
            </a:fld>
            <a:endParaRPr lang="en-US"/>
          </a:p>
        </p:txBody>
      </p:sp>
    </p:spTree>
    <p:extLst>
      <p:ext uri="{BB962C8B-B14F-4D97-AF65-F5344CB8AC3E}">
        <p14:creationId xmlns:p14="http://schemas.microsoft.com/office/powerpoint/2010/main" val="1619538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1C5EA46-5A71-4A21-A308-EED7F7EC46AA}"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2916658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E55082-79AF-4CB7-9D09-D3E1E9EDA655}"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2901090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2C4696-6536-4A4B-B0FB-23688ACB402D}"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3965334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B66D62-29E5-4DA3-BE87-7C7DBDCA197A}" type="datetime1">
              <a:rPr lang="en-US" smtClean="0"/>
              <a:t>9/13/2020</a:t>
            </a:fld>
            <a:endParaRPr lang="en-US"/>
          </a:p>
        </p:txBody>
      </p:sp>
      <p:sp>
        <p:nvSpPr>
          <p:cNvPr id="6" name="Footer Placeholder 5"/>
          <p:cNvSpPr>
            <a:spLocks noGrp="1"/>
          </p:cNvSpPr>
          <p:nvPr>
            <p:ph type="ftr" sz="quarter" idx="11"/>
          </p:nvPr>
        </p:nvSpPr>
        <p:spPr/>
        <p:txBody>
          <a:bodyPr/>
          <a:lstStyle/>
          <a:p>
            <a:r>
              <a:rPr lang="en-US" smtClean="0"/>
              <a:t>Deep Learning for Coders with fastai and PyTorch</a:t>
            </a:r>
            <a:endParaRPr lang="en-US"/>
          </a:p>
        </p:txBody>
      </p:sp>
      <p:sp>
        <p:nvSpPr>
          <p:cNvPr id="7" name="Slide Number Placeholder 6"/>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1910137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23D1FF-DFC0-4427-B46E-CEDD2FA16782}" type="datetime1">
              <a:rPr lang="en-US" smtClean="0"/>
              <a:t>9/13/2020</a:t>
            </a:fld>
            <a:endParaRPr lang="en-US"/>
          </a:p>
        </p:txBody>
      </p:sp>
      <p:sp>
        <p:nvSpPr>
          <p:cNvPr id="8" name="Footer Placeholder 7"/>
          <p:cNvSpPr>
            <a:spLocks noGrp="1"/>
          </p:cNvSpPr>
          <p:nvPr>
            <p:ph type="ftr" sz="quarter" idx="11"/>
          </p:nvPr>
        </p:nvSpPr>
        <p:spPr/>
        <p:txBody>
          <a:bodyPr/>
          <a:lstStyle/>
          <a:p>
            <a:r>
              <a:rPr lang="en-US" smtClean="0"/>
              <a:t>Deep Learning for Coders with fastai and PyTorch</a:t>
            </a:r>
            <a:endParaRPr lang="en-US"/>
          </a:p>
        </p:txBody>
      </p:sp>
      <p:sp>
        <p:nvSpPr>
          <p:cNvPr id="9" name="Slide Number Placeholder 8"/>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932349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DC5947-C207-4EB5-9964-78B5B552239C}" type="datetime1">
              <a:rPr lang="en-US" smtClean="0"/>
              <a:t>9/13/2020</a:t>
            </a:fld>
            <a:endParaRPr lang="en-US"/>
          </a:p>
        </p:txBody>
      </p:sp>
      <p:sp>
        <p:nvSpPr>
          <p:cNvPr id="4" name="Footer Placeholder 3"/>
          <p:cNvSpPr>
            <a:spLocks noGrp="1"/>
          </p:cNvSpPr>
          <p:nvPr>
            <p:ph type="ftr" sz="quarter" idx="11"/>
          </p:nvPr>
        </p:nvSpPr>
        <p:spPr/>
        <p:txBody>
          <a:bodyPr/>
          <a:lstStyle/>
          <a:p>
            <a:r>
              <a:rPr lang="en-US" smtClean="0"/>
              <a:t>Deep Learning for Coders with fastai and PyTorch</a:t>
            </a:r>
            <a:endParaRPr lang="en-US"/>
          </a:p>
        </p:txBody>
      </p:sp>
      <p:sp>
        <p:nvSpPr>
          <p:cNvPr id="5" name="Slide Number Placeholder 4"/>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346006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79FB3C-2028-492B-A169-6C52A01ABCCA}" type="datetime1">
              <a:rPr lang="en-US" smtClean="0"/>
              <a:t>9/13/2020</a:t>
            </a:fld>
            <a:endParaRPr lang="en-US"/>
          </a:p>
        </p:txBody>
      </p:sp>
      <p:sp>
        <p:nvSpPr>
          <p:cNvPr id="3" name="Footer Placeholder 2"/>
          <p:cNvSpPr>
            <a:spLocks noGrp="1"/>
          </p:cNvSpPr>
          <p:nvPr>
            <p:ph type="ftr" sz="quarter" idx="11"/>
          </p:nvPr>
        </p:nvSpPr>
        <p:spPr/>
        <p:txBody>
          <a:bodyPr/>
          <a:lstStyle/>
          <a:p>
            <a:r>
              <a:rPr lang="en-US" smtClean="0"/>
              <a:t>Deep Learning for Coders with fastai and PyTorch</a:t>
            </a:r>
            <a:endParaRPr lang="en-US"/>
          </a:p>
        </p:txBody>
      </p:sp>
      <p:sp>
        <p:nvSpPr>
          <p:cNvPr id="4" name="Slide Number Placeholder 3"/>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305251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E92DCA9-0973-4B6D-9184-E3EC0D89C778}" type="datetime1">
              <a:rPr lang="en-US" smtClean="0"/>
              <a:t>9/13/2020</a:t>
            </a:fld>
            <a:endParaRPr lang="en-US"/>
          </a:p>
        </p:txBody>
      </p:sp>
      <p:sp>
        <p:nvSpPr>
          <p:cNvPr id="6" name="Footer Placeholder 5"/>
          <p:cNvSpPr>
            <a:spLocks noGrp="1"/>
          </p:cNvSpPr>
          <p:nvPr>
            <p:ph type="ftr" sz="quarter" idx="11"/>
          </p:nvPr>
        </p:nvSpPr>
        <p:spPr/>
        <p:txBody>
          <a:bodyPr/>
          <a:lstStyle/>
          <a:p>
            <a:r>
              <a:rPr lang="en-US" smtClean="0"/>
              <a:t>Deep Learning for Coders with fastai and PyTorch</a:t>
            </a:r>
            <a:endParaRPr lang="en-US"/>
          </a:p>
        </p:txBody>
      </p:sp>
      <p:sp>
        <p:nvSpPr>
          <p:cNvPr id="7" name="Slide Number Placeholder 6"/>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763314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0E91D2B-A345-4910-A1F5-CD082F7C239E}" type="datetime1">
              <a:rPr lang="en-US" smtClean="0"/>
              <a:t>9/13/2020</a:t>
            </a:fld>
            <a:endParaRPr lang="en-US"/>
          </a:p>
        </p:txBody>
      </p:sp>
      <p:sp>
        <p:nvSpPr>
          <p:cNvPr id="6" name="Footer Placeholder 5"/>
          <p:cNvSpPr>
            <a:spLocks noGrp="1"/>
          </p:cNvSpPr>
          <p:nvPr>
            <p:ph type="ftr" sz="quarter" idx="11"/>
          </p:nvPr>
        </p:nvSpPr>
        <p:spPr/>
        <p:txBody>
          <a:bodyPr/>
          <a:lstStyle/>
          <a:p>
            <a:r>
              <a:rPr lang="en-US" smtClean="0"/>
              <a:t>Deep Learning for Coders with fastai and PyTorch</a:t>
            </a:r>
            <a:endParaRPr lang="en-US"/>
          </a:p>
        </p:txBody>
      </p:sp>
      <p:sp>
        <p:nvSpPr>
          <p:cNvPr id="7" name="Slide Number Placeholder 6"/>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1150289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BEFDCB-C9E8-4F53-B966-73E9772B7526}"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142597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44E7A3-AF81-4302-AD9D-738A1B2546D2}"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a:t>
            </a:fld>
            <a:endParaRPr lang="en-US"/>
          </a:p>
        </p:txBody>
      </p:sp>
    </p:spTree>
    <p:extLst>
      <p:ext uri="{BB962C8B-B14F-4D97-AF65-F5344CB8AC3E}">
        <p14:creationId xmlns:p14="http://schemas.microsoft.com/office/powerpoint/2010/main" val="511805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8333EA-E8A4-4D2A-9D97-E9793F1A1EDE}" type="datetime1">
              <a:rPr lang="en-US" smtClean="0"/>
              <a:t>9/13/2020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Deep Learning for Coders with fastai and PyTorch</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1D1D2-449B-426A-9851-D373D9EC211C}" type="slidenum">
              <a:rPr lang="en-US" smtClean="0"/>
              <a:t>‹#›</a:t>
            </a:fld>
            <a:endParaRPr lang="en-US"/>
          </a:p>
        </p:txBody>
      </p:sp>
    </p:spTree>
    <p:extLst>
      <p:ext uri="{BB962C8B-B14F-4D97-AF65-F5344CB8AC3E}">
        <p14:creationId xmlns:p14="http://schemas.microsoft.com/office/powerpoint/2010/main" val="31296750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pdf/1311.2901.pdf"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medium.com/@etown/great-results-on-audio-classification-with-fastai-library-ccaf906c5f52" TargetMode="Externa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splunk.com/en_us/blog/security/deep-learning-with-splunk-and-tensorflow-for-security-catching-the-fraudster-in-neural-networks-with-behavioral-biometrics.html" TargetMode="External"/><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ieeexplore.ieee.org/abstract/document/8328749" TargetMode="External"/><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www0.cs.ucl.ac.uk/staff/G.Brostow/papers/Brostow_2009-PRL.pdf" TargetMode="External"/><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ai.stanford.edu/~ang/papers/acl11-WordVectorsSentimentAnalysis.pdf" TargetMode="External"/><Relationship Id="rId2" Type="http://schemas.openxmlformats.org/officeDocument/2006/relationships/hyperlink" Target="https://ai.stanford.edu/~amaas/data/sentiment/" TargetMode="External"/><Relationship Id="rId1" Type="http://schemas.openxmlformats.org/officeDocument/2006/relationships/slideLayout" Target="../slideLayouts/slideLayout1.xml"/><Relationship Id="rId4" Type="http://schemas.openxmlformats.org/officeDocument/2006/relationships/hyperlink" Target="https://dl.acm.org/doi/10.1145/282787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EE55082-79AF-4CB7-9D09-D3E1E9EDA655}" type="datetime1">
              <a:rPr lang="en-US" smtClean="0"/>
              <a:t>9/13/2020</a:t>
            </a:fld>
            <a:endParaRPr lang="en-US"/>
          </a:p>
        </p:txBody>
      </p:sp>
      <p:sp>
        <p:nvSpPr>
          <p:cNvPr id="5" name="Footer Placeholder 4"/>
          <p:cNvSpPr>
            <a:spLocks noGrp="1"/>
          </p:cNvSpPr>
          <p:nvPr>
            <p:ph type="ftr" sz="quarter" idx="11"/>
          </p:nvPr>
        </p:nvSpPr>
        <p:spPr/>
        <p:txBody>
          <a:bodyPr/>
          <a:lstStyle/>
          <a:p>
            <a:r>
              <a:rPr lang="en-US" smtClean="0"/>
              <a:t>Deep Learning for Coders with fastai and PyTorch</a:t>
            </a:r>
            <a:endParaRPr lang="en-US"/>
          </a:p>
        </p:txBody>
      </p:sp>
      <p:sp>
        <p:nvSpPr>
          <p:cNvPr id="6" name="Slide Number Placeholder 5"/>
          <p:cNvSpPr>
            <a:spLocks noGrp="1"/>
          </p:cNvSpPr>
          <p:nvPr>
            <p:ph type="sldNum" sz="quarter" idx="12"/>
          </p:nvPr>
        </p:nvSpPr>
        <p:spPr/>
        <p:txBody>
          <a:bodyPr/>
          <a:lstStyle/>
          <a:p>
            <a:fld id="{57C1D1D2-449B-426A-9851-D373D9EC211C}" type="slidenum">
              <a:rPr lang="en-US" smtClean="0"/>
              <a:t>1</a:t>
            </a:fld>
            <a:endParaRPr lang="en-US"/>
          </a:p>
        </p:txBody>
      </p:sp>
      <p:sp>
        <p:nvSpPr>
          <p:cNvPr id="7" name="TextBox 6"/>
          <p:cNvSpPr txBox="1"/>
          <p:nvPr/>
        </p:nvSpPr>
        <p:spPr>
          <a:xfrm>
            <a:off x="1011379" y="916753"/>
            <a:ext cx="10611495" cy="707886"/>
          </a:xfrm>
          <a:prstGeom prst="rect">
            <a:avLst/>
          </a:prstGeom>
          <a:noFill/>
        </p:spPr>
        <p:txBody>
          <a:bodyPr wrap="none" rtlCol="0">
            <a:spAutoFit/>
          </a:bodyPr>
          <a:lstStyle/>
          <a:p>
            <a:r>
              <a:rPr lang="en-US" sz="4000" b="1" smtClean="0"/>
              <a:t>Deep Learning for Coders with fastai and PyTorch</a:t>
            </a:r>
            <a:endParaRPr lang="en-US" sz="4000" b="1"/>
          </a:p>
        </p:txBody>
      </p:sp>
      <p:sp>
        <p:nvSpPr>
          <p:cNvPr id="9" name="Rectangle 8"/>
          <p:cNvSpPr/>
          <p:nvPr/>
        </p:nvSpPr>
        <p:spPr>
          <a:xfrm>
            <a:off x="4210331" y="1877708"/>
            <a:ext cx="4213589" cy="477054"/>
          </a:xfrm>
          <a:prstGeom prst="rect">
            <a:avLst/>
          </a:prstGeom>
        </p:spPr>
        <p:txBody>
          <a:bodyPr wrap="none">
            <a:spAutoFit/>
          </a:bodyPr>
          <a:lstStyle/>
          <a:p>
            <a:r>
              <a:rPr lang="en-US" sz="2500">
                <a:latin typeface="Times New Roman" panose="02020603050405020304" pitchFamily="18" charset="0"/>
                <a:cs typeface="Times New Roman" panose="02020603050405020304" pitchFamily="18" charset="0"/>
              </a:rPr>
              <a:t>AI Applications Without a PhD</a:t>
            </a:r>
          </a:p>
        </p:txBody>
      </p:sp>
      <p:sp>
        <p:nvSpPr>
          <p:cNvPr id="10" name="Rectangle 9"/>
          <p:cNvSpPr/>
          <p:nvPr/>
        </p:nvSpPr>
        <p:spPr>
          <a:xfrm>
            <a:off x="3714972" y="3380118"/>
            <a:ext cx="5204310" cy="477054"/>
          </a:xfrm>
          <a:prstGeom prst="rect">
            <a:avLst/>
          </a:prstGeom>
        </p:spPr>
        <p:txBody>
          <a:bodyPr wrap="none">
            <a:spAutoFit/>
          </a:bodyPr>
          <a:lstStyle/>
          <a:p>
            <a:r>
              <a:rPr lang="en-US" sz="2500" b="1">
                <a:latin typeface="Times New Roman" panose="02020603050405020304" pitchFamily="18" charset="0"/>
                <a:cs typeface="Times New Roman" panose="02020603050405020304" pitchFamily="18" charset="0"/>
              </a:rPr>
              <a:t>Jeremy Howard and Sylvain Gugger</a:t>
            </a:r>
          </a:p>
        </p:txBody>
      </p:sp>
      <p:cxnSp>
        <p:nvCxnSpPr>
          <p:cNvPr id="15" name="Straight Connector 14"/>
          <p:cNvCxnSpPr/>
          <p:nvPr/>
        </p:nvCxnSpPr>
        <p:spPr>
          <a:xfrm flipV="1">
            <a:off x="3324543" y="2555640"/>
            <a:ext cx="5985164" cy="277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823" y="2583349"/>
            <a:ext cx="2784216" cy="3573541"/>
          </a:xfrm>
          <a:prstGeom prst="rect">
            <a:avLst/>
          </a:prstGeom>
        </p:spPr>
      </p:pic>
      <p:pic>
        <p:nvPicPr>
          <p:cNvPr id="17" name="Picture 16"/>
          <p:cNvPicPr>
            <a:picLocks noChangeAspect="1"/>
          </p:cNvPicPr>
          <p:nvPr/>
        </p:nvPicPr>
        <p:blipFill>
          <a:blip r:embed="rId3"/>
          <a:stretch>
            <a:fillRect/>
          </a:stretch>
        </p:blipFill>
        <p:spPr>
          <a:xfrm>
            <a:off x="8919282" y="3580717"/>
            <a:ext cx="2736705" cy="1778264"/>
          </a:xfrm>
          <a:prstGeom prst="rect">
            <a:avLst/>
          </a:prstGeom>
        </p:spPr>
      </p:pic>
    </p:spTree>
    <p:extLst>
      <p:ext uri="{BB962C8B-B14F-4D97-AF65-F5344CB8AC3E}">
        <p14:creationId xmlns:p14="http://schemas.microsoft.com/office/powerpoint/2010/main" val="6585592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4617483" cy="523220"/>
          </a:xfrm>
          <a:prstGeom prst="rect">
            <a:avLst/>
          </a:prstGeom>
          <a:noFill/>
        </p:spPr>
        <p:txBody>
          <a:bodyPr wrap="none" rtlCol="0">
            <a:spAutoFit/>
          </a:bodyPr>
          <a:lstStyle/>
          <a:p>
            <a:r>
              <a:rPr lang="en-US" sz="2800" b="1">
                <a:solidFill>
                  <a:srgbClr val="FF0000"/>
                </a:solidFill>
              </a:rPr>
              <a:t>Deep Learning Is for </a:t>
            </a:r>
            <a:r>
              <a:rPr lang="en-US" sz="2800" b="1" smtClean="0">
                <a:solidFill>
                  <a:srgbClr val="FF0000"/>
                </a:solidFill>
              </a:rPr>
              <a:t>Everyone</a:t>
            </a: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98777" y="1549875"/>
            <a:ext cx="3841052" cy="369332"/>
          </a:xfrm>
          <a:prstGeom prst="rect">
            <a:avLst/>
          </a:prstGeom>
        </p:spPr>
        <p:txBody>
          <a:bodyPr wrap="none">
            <a:spAutoFit/>
          </a:bodyPr>
          <a:lstStyle/>
          <a:p>
            <a:r>
              <a:rPr lang="en-US" smtClean="0"/>
              <a:t>What you don’t need for deep learning</a:t>
            </a: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178105526"/>
              </p:ext>
            </p:extLst>
          </p:nvPr>
        </p:nvGraphicFramePr>
        <p:xfrm>
          <a:off x="598777" y="2056771"/>
          <a:ext cx="9259456" cy="1483360"/>
        </p:xfrm>
        <a:graphic>
          <a:graphicData uri="http://schemas.openxmlformats.org/drawingml/2006/table">
            <a:tbl>
              <a:tblPr firstRow="1" bandRow="1">
                <a:tableStyleId>{3B4B98B0-60AC-42C2-AFA5-B58CD77FA1E5}</a:tableStyleId>
              </a:tblPr>
              <a:tblGrid>
                <a:gridCol w="3282728">
                  <a:extLst>
                    <a:ext uri="{9D8B030D-6E8A-4147-A177-3AD203B41FA5}">
                      <a16:colId xmlns:a16="http://schemas.microsoft.com/office/drawing/2014/main" val="3651680829"/>
                    </a:ext>
                  </a:extLst>
                </a:gridCol>
                <a:gridCol w="5976728">
                  <a:extLst>
                    <a:ext uri="{9D8B030D-6E8A-4147-A177-3AD203B41FA5}">
                      <a16:colId xmlns:a16="http://schemas.microsoft.com/office/drawing/2014/main" val="1839143502"/>
                    </a:ext>
                  </a:extLst>
                </a:gridCol>
              </a:tblGrid>
              <a:tr h="370840">
                <a:tc>
                  <a:txBody>
                    <a:bodyPr/>
                    <a:lstStyle/>
                    <a:p>
                      <a:r>
                        <a:rPr lang="en-US" sz="1800" kern="1200" smtClean="0">
                          <a:effectLst/>
                        </a:rPr>
                        <a:t>Myth (don’t need)</a:t>
                      </a:r>
                      <a:endParaRPr lang="en-US"/>
                    </a:p>
                  </a:txBody>
                  <a:tcPr/>
                </a:tc>
                <a:tc>
                  <a:txBody>
                    <a:bodyPr/>
                    <a:lstStyle/>
                    <a:p>
                      <a:r>
                        <a:rPr lang="en-US" smtClean="0"/>
                        <a:t>Trust</a:t>
                      </a:r>
                      <a:endParaRPr lang="en-US"/>
                    </a:p>
                  </a:txBody>
                  <a:tcPr/>
                </a:tc>
                <a:extLst>
                  <a:ext uri="{0D108BD9-81ED-4DB2-BD59-A6C34878D82A}">
                    <a16:rowId xmlns:a16="http://schemas.microsoft.com/office/drawing/2014/main" val="2034724822"/>
                  </a:ext>
                </a:extLst>
              </a:tr>
              <a:tr h="370840">
                <a:tc>
                  <a:txBody>
                    <a:bodyPr/>
                    <a:lstStyle/>
                    <a:p>
                      <a:r>
                        <a:rPr lang="en-US" sz="1800" kern="1200" smtClean="0">
                          <a:effectLst/>
                        </a:rPr>
                        <a:t>Lots of math</a:t>
                      </a:r>
                      <a:endParaRPr lang="en-US"/>
                    </a:p>
                  </a:txBody>
                  <a:tcPr/>
                </a:tc>
                <a:tc>
                  <a:txBody>
                    <a:bodyPr/>
                    <a:lstStyle/>
                    <a:p>
                      <a:r>
                        <a:rPr lang="en-US" sz="1800" kern="1200" smtClean="0">
                          <a:effectLst/>
                        </a:rPr>
                        <a:t>High school math is sufficient.</a:t>
                      </a:r>
                      <a:endParaRPr lang="en-US"/>
                    </a:p>
                  </a:txBody>
                  <a:tcPr/>
                </a:tc>
                <a:extLst>
                  <a:ext uri="{0D108BD9-81ED-4DB2-BD59-A6C34878D82A}">
                    <a16:rowId xmlns:a16="http://schemas.microsoft.com/office/drawing/2014/main" val="2454324827"/>
                  </a:ext>
                </a:extLst>
              </a:tr>
              <a:tr h="370840">
                <a:tc>
                  <a:txBody>
                    <a:bodyPr/>
                    <a:lstStyle/>
                    <a:p>
                      <a:r>
                        <a:rPr lang="en-US" sz="1800" kern="1200" smtClean="0">
                          <a:effectLst/>
                        </a:rPr>
                        <a:t>Lots of math</a:t>
                      </a:r>
                      <a:endParaRPr lang="en-US"/>
                    </a:p>
                  </a:txBody>
                  <a:tcPr/>
                </a:tc>
                <a:tc>
                  <a:txBody>
                    <a:bodyPr/>
                    <a:lstStyle/>
                    <a:p>
                      <a:r>
                        <a:rPr lang="en-US" sz="1800" kern="1200" smtClean="0">
                          <a:effectLst/>
                        </a:rPr>
                        <a:t>We’ve seen record-breaking results with &lt;50 items of data.</a:t>
                      </a:r>
                      <a:endParaRPr lang="en-US"/>
                    </a:p>
                  </a:txBody>
                  <a:tcPr/>
                </a:tc>
                <a:extLst>
                  <a:ext uri="{0D108BD9-81ED-4DB2-BD59-A6C34878D82A}">
                    <a16:rowId xmlns:a16="http://schemas.microsoft.com/office/drawing/2014/main" val="3647954558"/>
                  </a:ext>
                </a:extLst>
              </a:tr>
              <a:tr h="370840">
                <a:tc>
                  <a:txBody>
                    <a:bodyPr/>
                    <a:lstStyle/>
                    <a:p>
                      <a:r>
                        <a:rPr lang="en-US" sz="1800" kern="1200" smtClean="0">
                          <a:effectLst/>
                        </a:rPr>
                        <a:t>Lots of expensive computers</a:t>
                      </a:r>
                      <a:endParaRPr lang="en-US"/>
                    </a:p>
                  </a:txBody>
                  <a:tcPr/>
                </a:tc>
                <a:tc>
                  <a:txBody>
                    <a:bodyPr/>
                    <a:lstStyle/>
                    <a:p>
                      <a:r>
                        <a:rPr lang="en-US" sz="1800" kern="1200" smtClean="0">
                          <a:effectLst/>
                        </a:rPr>
                        <a:t>You can get what you need for state-of-the-art work for free.</a:t>
                      </a:r>
                      <a:endParaRPr lang="en-US"/>
                    </a:p>
                  </a:txBody>
                  <a:tcPr/>
                </a:tc>
                <a:extLst>
                  <a:ext uri="{0D108BD9-81ED-4DB2-BD59-A6C34878D82A}">
                    <a16:rowId xmlns:a16="http://schemas.microsoft.com/office/drawing/2014/main" val="2349197556"/>
                  </a:ext>
                </a:extLst>
              </a:tr>
            </a:tbl>
          </a:graphicData>
        </a:graphic>
      </p:graphicFrame>
      <p:sp>
        <p:nvSpPr>
          <p:cNvPr id="13" name="Rectangle 12"/>
          <p:cNvSpPr/>
          <p:nvPr/>
        </p:nvSpPr>
        <p:spPr>
          <a:xfrm>
            <a:off x="598776" y="3677695"/>
            <a:ext cx="10872787" cy="923330"/>
          </a:xfrm>
          <a:prstGeom prst="rect">
            <a:avLst/>
          </a:prstGeom>
        </p:spPr>
        <p:txBody>
          <a:bodyPr wrap="square">
            <a:spAutoFit/>
          </a:bodyPr>
          <a:lstStyle/>
          <a:p>
            <a:r>
              <a:rPr lang="en-US" b="1" smtClean="0"/>
              <a:t>Deep learning </a:t>
            </a:r>
            <a:r>
              <a:rPr lang="en-US" smtClean="0"/>
              <a:t>is a computer technique to extract and transform data </a:t>
            </a:r>
            <a:r>
              <a:rPr lang="en-US"/>
              <a:t>by using multiple layers of neural networks. Each of these layers takes its inputs from previous layers and progressively refines them. The layers are trained by algorithms that minimize their errors and improve their accuracy.</a:t>
            </a:r>
          </a:p>
        </p:txBody>
      </p:sp>
      <p:graphicFrame>
        <p:nvGraphicFramePr>
          <p:cNvPr id="15" name="Table 14"/>
          <p:cNvGraphicFramePr>
            <a:graphicFrameLocks noGrp="1"/>
          </p:cNvGraphicFramePr>
          <p:nvPr>
            <p:extLst>
              <p:ext uri="{D42A27DB-BD31-4B8C-83A1-F6EECF244321}">
                <p14:modId xmlns:p14="http://schemas.microsoft.com/office/powerpoint/2010/main" val="1646146433"/>
              </p:ext>
            </p:extLst>
          </p:nvPr>
        </p:nvGraphicFramePr>
        <p:xfrm>
          <a:off x="1035505" y="5226143"/>
          <a:ext cx="10537796" cy="1280160"/>
        </p:xfrm>
        <a:graphic>
          <a:graphicData uri="http://schemas.openxmlformats.org/drawingml/2006/table">
            <a:tbl>
              <a:tblPr firstRow="1" bandRow="1">
                <a:tableStyleId>{2D5ABB26-0587-4C30-8999-92F81FD0307C}</a:tableStyleId>
              </a:tblPr>
              <a:tblGrid>
                <a:gridCol w="2634449">
                  <a:extLst>
                    <a:ext uri="{9D8B030D-6E8A-4147-A177-3AD203B41FA5}">
                      <a16:colId xmlns:a16="http://schemas.microsoft.com/office/drawing/2014/main" val="4114377635"/>
                    </a:ext>
                  </a:extLst>
                </a:gridCol>
                <a:gridCol w="2634449">
                  <a:extLst>
                    <a:ext uri="{9D8B030D-6E8A-4147-A177-3AD203B41FA5}">
                      <a16:colId xmlns:a16="http://schemas.microsoft.com/office/drawing/2014/main" val="147068518"/>
                    </a:ext>
                  </a:extLst>
                </a:gridCol>
                <a:gridCol w="2634449">
                  <a:extLst>
                    <a:ext uri="{9D8B030D-6E8A-4147-A177-3AD203B41FA5}">
                      <a16:colId xmlns:a16="http://schemas.microsoft.com/office/drawing/2014/main" val="1914582871"/>
                    </a:ext>
                  </a:extLst>
                </a:gridCol>
                <a:gridCol w="2634449">
                  <a:extLst>
                    <a:ext uri="{9D8B030D-6E8A-4147-A177-3AD203B41FA5}">
                      <a16:colId xmlns:a16="http://schemas.microsoft.com/office/drawing/2014/main" val="923773382"/>
                    </a:ext>
                  </a:extLst>
                </a:gridCol>
              </a:tblGrid>
              <a:tr h="370840">
                <a:tc>
                  <a:txBody>
                    <a:bodyPr/>
                    <a:lstStyle/>
                    <a:p>
                      <a:r>
                        <a:rPr lang="en-US" sz="1800" b="1" kern="1200" smtClean="0">
                          <a:solidFill>
                            <a:schemeClr val="bg2">
                              <a:lumMod val="50000"/>
                            </a:schemeClr>
                          </a:solidFill>
                          <a:effectLst/>
                        </a:rPr>
                        <a:t>Natural language processing (NPL)</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Computer vision</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Medicine</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Biology</a:t>
                      </a:r>
                      <a:endParaRPr lang="en-US" b="1">
                        <a:solidFill>
                          <a:schemeClr val="bg2">
                            <a:lumMod val="50000"/>
                          </a:schemeClr>
                        </a:solidFill>
                      </a:endParaRPr>
                    </a:p>
                  </a:txBody>
                  <a:tcPr/>
                </a:tc>
                <a:extLst>
                  <a:ext uri="{0D108BD9-81ED-4DB2-BD59-A6C34878D82A}">
                    <a16:rowId xmlns:a16="http://schemas.microsoft.com/office/drawing/2014/main" val="3412603280"/>
                  </a:ext>
                </a:extLst>
              </a:tr>
              <a:tr h="370840">
                <a:tc>
                  <a:txBody>
                    <a:bodyPr/>
                    <a:lstStyle/>
                    <a:p>
                      <a:r>
                        <a:rPr lang="en-US" sz="1800" b="1" kern="1200" smtClean="0">
                          <a:solidFill>
                            <a:schemeClr val="bg2">
                              <a:lumMod val="50000"/>
                            </a:schemeClr>
                          </a:solidFill>
                          <a:effectLst/>
                        </a:rPr>
                        <a:t>Image generation</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Recommendation systems</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Playing games</a:t>
                      </a:r>
                      <a:endParaRPr lang="en-US" b="1">
                        <a:solidFill>
                          <a:schemeClr val="bg2">
                            <a:lumMod val="50000"/>
                          </a:schemeClr>
                        </a:solidFill>
                      </a:endParaRPr>
                    </a:p>
                  </a:txBody>
                  <a:tcPr/>
                </a:tc>
                <a:tc>
                  <a:txBody>
                    <a:bodyPr/>
                    <a:lstStyle/>
                    <a:p>
                      <a:r>
                        <a:rPr lang="en-US" sz="1800" b="1" kern="1200" smtClean="0">
                          <a:solidFill>
                            <a:schemeClr val="bg2">
                              <a:lumMod val="50000"/>
                            </a:schemeClr>
                          </a:solidFill>
                          <a:effectLst/>
                        </a:rPr>
                        <a:t>Robotics</a:t>
                      </a:r>
                      <a:endParaRPr lang="en-US" b="1">
                        <a:solidFill>
                          <a:schemeClr val="bg2">
                            <a:lumMod val="50000"/>
                          </a:schemeClr>
                        </a:solidFill>
                      </a:endParaRPr>
                    </a:p>
                  </a:txBody>
                  <a:tcPr/>
                </a:tc>
                <a:extLst>
                  <a:ext uri="{0D108BD9-81ED-4DB2-BD59-A6C34878D82A}">
                    <a16:rowId xmlns:a16="http://schemas.microsoft.com/office/drawing/2014/main" val="1284293804"/>
                  </a:ext>
                </a:extLst>
              </a:tr>
            </a:tbl>
          </a:graphicData>
        </a:graphic>
      </p:graphicFrame>
      <p:sp>
        <p:nvSpPr>
          <p:cNvPr id="16" name="Rectangle 15"/>
          <p:cNvSpPr/>
          <p:nvPr/>
        </p:nvSpPr>
        <p:spPr>
          <a:xfrm>
            <a:off x="598777" y="4728918"/>
            <a:ext cx="3076483" cy="369332"/>
          </a:xfrm>
          <a:prstGeom prst="rect">
            <a:avLst/>
          </a:prstGeom>
        </p:spPr>
        <p:txBody>
          <a:bodyPr wrap="none">
            <a:spAutoFit/>
          </a:bodyPr>
          <a:lstStyle/>
          <a:p>
            <a:r>
              <a:rPr lang="en-US" b="1" smtClean="0">
                <a:effectLst/>
              </a:rPr>
              <a:t>Applications of deep learning</a:t>
            </a:r>
            <a:endParaRPr lang="en-US" b="1"/>
          </a:p>
        </p:txBody>
      </p:sp>
      <p:sp>
        <p:nvSpPr>
          <p:cNvPr id="17" name="Footer Placeholder 16"/>
          <p:cNvSpPr>
            <a:spLocks noGrp="1"/>
          </p:cNvSpPr>
          <p:nvPr>
            <p:ph type="ftr" sz="quarter" idx="11"/>
          </p:nvPr>
        </p:nvSpPr>
        <p:spPr/>
        <p:txBody>
          <a:bodyPr/>
          <a:lstStyle/>
          <a:p>
            <a:r>
              <a:rPr lang="en-US" smtClean="0"/>
              <a:t>Deep Learning for Coders with fastai and PyTorch</a:t>
            </a:r>
            <a:endParaRPr lang="en-US"/>
          </a:p>
        </p:txBody>
      </p:sp>
      <p:sp>
        <p:nvSpPr>
          <p:cNvPr id="18" name="Slide Number Placeholder 17"/>
          <p:cNvSpPr>
            <a:spLocks noGrp="1"/>
          </p:cNvSpPr>
          <p:nvPr>
            <p:ph type="sldNum" sz="quarter" idx="12"/>
          </p:nvPr>
        </p:nvSpPr>
        <p:spPr/>
        <p:txBody>
          <a:bodyPr/>
          <a:lstStyle/>
          <a:p>
            <a:fld id="{57C1D1D2-449B-426A-9851-D373D9EC211C}" type="slidenum">
              <a:rPr lang="en-US" smtClean="0"/>
              <a:t>2</a:t>
            </a:fld>
            <a:endParaRPr lang="en-US"/>
          </a:p>
        </p:txBody>
      </p:sp>
      <p:sp>
        <p:nvSpPr>
          <p:cNvPr id="19" name="Date Placeholder 18"/>
          <p:cNvSpPr>
            <a:spLocks noGrp="1"/>
          </p:cNvSpPr>
          <p:nvPr>
            <p:ph type="dt" sz="half" idx="10"/>
          </p:nvPr>
        </p:nvSpPr>
        <p:spPr/>
        <p:txBody>
          <a:bodyPr/>
          <a:lstStyle/>
          <a:p>
            <a:fld id="{708FA895-3754-4328-9ED7-1A33A9E405FD}" type="datetime1">
              <a:rPr lang="en-US" smtClean="0"/>
              <a:t>9/13/2020</a:t>
            </a:fld>
            <a:endParaRPr lang="en-US"/>
          </a:p>
        </p:txBody>
      </p:sp>
    </p:spTree>
    <p:extLst>
      <p:ext uri="{BB962C8B-B14F-4D97-AF65-F5344CB8AC3E}">
        <p14:creationId xmlns:p14="http://schemas.microsoft.com/office/powerpoint/2010/main" val="9718216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5042599" cy="523220"/>
          </a:xfrm>
          <a:prstGeom prst="rect">
            <a:avLst/>
          </a:prstGeom>
          <a:noFill/>
        </p:spPr>
        <p:txBody>
          <a:bodyPr wrap="none" rtlCol="0">
            <a:spAutoFit/>
          </a:bodyPr>
          <a:lstStyle/>
          <a:p>
            <a:r>
              <a:rPr lang="en-US" sz="2800" b="1" smtClean="0">
                <a:solidFill>
                  <a:srgbClr val="FF0000"/>
                </a:solidFill>
              </a:rPr>
              <a:t>Neural Networks: A Brief History</a:t>
            </a: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7731267" y="1901352"/>
            <a:ext cx="4109963" cy="3303123"/>
          </a:xfrm>
          <a:prstGeom prst="rect">
            <a:avLst/>
          </a:prstGeom>
        </p:spPr>
      </p:pic>
      <p:sp>
        <p:nvSpPr>
          <p:cNvPr id="3" name="Rectangle 2"/>
          <p:cNvSpPr/>
          <p:nvPr/>
        </p:nvSpPr>
        <p:spPr>
          <a:xfrm>
            <a:off x="7801153" y="5555734"/>
            <a:ext cx="3970189" cy="369332"/>
          </a:xfrm>
          <a:prstGeom prst="rect">
            <a:avLst/>
          </a:prstGeom>
        </p:spPr>
        <p:txBody>
          <a:bodyPr wrap="none">
            <a:spAutoFit/>
          </a:bodyPr>
          <a:lstStyle/>
          <a:p>
            <a:r>
              <a:rPr lang="en-US" smtClean="0"/>
              <a:t>Figure 1-1. Natural and artificial neurons</a:t>
            </a:r>
            <a:endParaRPr lang="en-US"/>
          </a:p>
        </p:txBody>
      </p:sp>
      <p:sp>
        <p:nvSpPr>
          <p:cNvPr id="7" name="Rectangle 6"/>
          <p:cNvSpPr/>
          <p:nvPr/>
        </p:nvSpPr>
        <p:spPr>
          <a:xfrm>
            <a:off x="598776" y="1665293"/>
            <a:ext cx="6983123" cy="4801314"/>
          </a:xfrm>
          <a:prstGeom prst="rect">
            <a:avLst/>
          </a:prstGeom>
        </p:spPr>
        <p:txBody>
          <a:bodyPr wrap="square">
            <a:spAutoFit/>
          </a:bodyPr>
          <a:lstStyle/>
          <a:p>
            <a:pPr marL="285750" indent="-285750" algn="just">
              <a:buFont typeface="Wingdings" panose="05000000000000000000" pitchFamily="2" charset="2"/>
              <a:buChar char="§"/>
            </a:pPr>
            <a:r>
              <a:rPr lang="en-US" smtClean="0"/>
              <a:t>In 1943 Warren McCulloch and Walter Pitts </a:t>
            </a:r>
            <a:r>
              <a:rPr lang="en-US"/>
              <a:t>realized that a simplified model of a real neuron could be represented using simple addition and </a:t>
            </a:r>
            <a:r>
              <a:rPr lang="en-US" smtClean="0"/>
              <a:t>thresholding.</a:t>
            </a:r>
          </a:p>
          <a:p>
            <a:pPr marL="285750" indent="-285750" algn="just">
              <a:buFont typeface="Wingdings" panose="05000000000000000000" pitchFamily="2" charset="2"/>
              <a:buChar char="§"/>
            </a:pPr>
            <a:r>
              <a:rPr lang="en-US" smtClean="0"/>
              <a:t>Rosenblatt further developed the artificial neuron to give it the ability to learn. </a:t>
            </a:r>
            <a:r>
              <a:rPr lang="en-US" b="1" i="1" smtClean="0"/>
              <a:t>The perceptron </a:t>
            </a:r>
            <a:r>
              <a:rPr lang="en-US" smtClean="0"/>
              <a:t>was built and was able to successfully recognize simple shapes.</a:t>
            </a:r>
          </a:p>
          <a:p>
            <a:pPr marL="285750" indent="-285750" algn="just">
              <a:buFont typeface="Wingdings" panose="05000000000000000000" pitchFamily="2" charset="2"/>
              <a:buChar char="§"/>
            </a:pPr>
            <a:r>
              <a:rPr lang="en-US" smtClean="0"/>
              <a:t>Marvin Minsky along with Seymour Papert, wrote a book showed that a single layer of these devices was unable to learn some simple but critical mathematical functions (such as </a:t>
            </a:r>
            <a:r>
              <a:rPr lang="en-US" b="1" i="1" smtClean="0"/>
              <a:t>XOR</a:t>
            </a:r>
            <a:r>
              <a:rPr lang="en-US" smtClean="0"/>
              <a:t>).</a:t>
            </a:r>
          </a:p>
          <a:p>
            <a:pPr marL="285750" indent="-285750" algn="just">
              <a:buFont typeface="Wingdings" panose="05000000000000000000" pitchFamily="2" charset="2"/>
              <a:buChar char="§"/>
            </a:pPr>
            <a:r>
              <a:rPr lang="en-US"/>
              <a:t>In the 1980s, most models were built with a </a:t>
            </a:r>
            <a:r>
              <a:rPr lang="en-US" b="1" i="1"/>
              <a:t>second layer </a:t>
            </a:r>
            <a:r>
              <a:rPr lang="en-US"/>
              <a:t>of neurons, thus avoiding the problem that had been identified by Minsky and Papert </a:t>
            </a:r>
            <a:r>
              <a:rPr lang="en-US" smtClean="0"/>
              <a:t>but in practice such networks were often too big and too slow to be useful.</a:t>
            </a:r>
          </a:p>
          <a:p>
            <a:pPr marL="285750" indent="-285750" algn="just">
              <a:buFont typeface="Wingdings" panose="05000000000000000000" pitchFamily="2" charset="2"/>
              <a:buChar char="§"/>
            </a:pPr>
            <a:r>
              <a:rPr lang="en-US" smtClean="0"/>
              <a:t>Neural networks are now finally living up to their potential, thanks to the use of </a:t>
            </a:r>
            <a:r>
              <a:rPr lang="en-US" b="1" i="1" smtClean="0"/>
              <a:t>more layers</a:t>
            </a:r>
            <a:r>
              <a:rPr lang="en-US" smtClean="0"/>
              <a:t>, coupled with the capacity to do so because of improvements in </a:t>
            </a:r>
            <a:r>
              <a:rPr lang="en-US" b="1" i="1" smtClean="0"/>
              <a:t>computer hardware</a:t>
            </a:r>
            <a:r>
              <a:rPr lang="en-US" smtClean="0"/>
              <a:t>, </a:t>
            </a:r>
            <a:r>
              <a:rPr lang="en-US" b="1" i="1" smtClean="0"/>
              <a:t>increases in data </a:t>
            </a:r>
            <a:r>
              <a:rPr lang="en-US" smtClean="0"/>
              <a:t>availability, and </a:t>
            </a:r>
            <a:r>
              <a:rPr lang="en-US" b="1" i="1" smtClean="0"/>
              <a:t>algorithmic tweaks </a:t>
            </a:r>
            <a:r>
              <a:rPr lang="en-US" smtClean="0"/>
              <a:t>that allow NN to be trained faster.</a:t>
            </a:r>
          </a:p>
        </p:txBody>
      </p:sp>
      <p:sp>
        <p:nvSpPr>
          <p:cNvPr id="9" name="Footer Placeholder 8"/>
          <p:cNvSpPr>
            <a:spLocks noGrp="1"/>
          </p:cNvSpPr>
          <p:nvPr>
            <p:ph type="ftr" sz="quarter" idx="11"/>
          </p:nvPr>
        </p:nvSpPr>
        <p:spPr/>
        <p:txBody>
          <a:bodyPr/>
          <a:lstStyle/>
          <a:p>
            <a:r>
              <a:rPr lang="en-US" smtClean="0"/>
              <a:t>Deep Learning for Coders with fastai and PyTorch</a:t>
            </a:r>
            <a:endParaRPr lang="en-US"/>
          </a:p>
        </p:txBody>
      </p:sp>
      <p:sp>
        <p:nvSpPr>
          <p:cNvPr id="10" name="Slide Number Placeholder 9"/>
          <p:cNvSpPr>
            <a:spLocks noGrp="1"/>
          </p:cNvSpPr>
          <p:nvPr>
            <p:ph type="sldNum" sz="quarter" idx="12"/>
          </p:nvPr>
        </p:nvSpPr>
        <p:spPr/>
        <p:txBody>
          <a:bodyPr/>
          <a:lstStyle/>
          <a:p>
            <a:fld id="{57C1D1D2-449B-426A-9851-D373D9EC211C}" type="slidenum">
              <a:rPr lang="en-US" smtClean="0"/>
              <a:t>3</a:t>
            </a:fld>
            <a:endParaRPr lang="en-US"/>
          </a:p>
        </p:txBody>
      </p:sp>
      <p:sp>
        <p:nvSpPr>
          <p:cNvPr id="14" name="Date Placeholder 13"/>
          <p:cNvSpPr>
            <a:spLocks noGrp="1"/>
          </p:cNvSpPr>
          <p:nvPr>
            <p:ph type="dt" sz="half" idx="10"/>
          </p:nvPr>
        </p:nvSpPr>
        <p:spPr/>
        <p:txBody>
          <a:bodyPr/>
          <a:lstStyle/>
          <a:p>
            <a:fld id="{F5151F2E-13E9-4D76-A762-665A4D24F6CA}" type="datetime1">
              <a:rPr lang="en-US" smtClean="0"/>
              <a:t>9/13/2020</a:t>
            </a:fld>
            <a:endParaRPr lang="en-US"/>
          </a:p>
        </p:txBody>
      </p:sp>
    </p:spTree>
    <p:extLst>
      <p:ext uri="{BB962C8B-B14F-4D97-AF65-F5344CB8AC3E}">
        <p14:creationId xmlns:p14="http://schemas.microsoft.com/office/powerpoint/2010/main" val="26938051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4405950" cy="523220"/>
          </a:xfrm>
          <a:prstGeom prst="rect">
            <a:avLst/>
          </a:prstGeom>
          <a:noFill/>
        </p:spPr>
        <p:txBody>
          <a:bodyPr wrap="none" rtlCol="0">
            <a:spAutoFit/>
          </a:bodyPr>
          <a:lstStyle/>
          <a:p>
            <a:r>
              <a:rPr lang="en-US" sz="2800" b="1" smtClean="0">
                <a:solidFill>
                  <a:srgbClr val="FF0000"/>
                </a:solidFill>
              </a:rPr>
              <a:t>How to Learn Deep Learning</a:t>
            </a: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98777" y="1526792"/>
            <a:ext cx="4823436" cy="369332"/>
          </a:xfrm>
          <a:prstGeom prst="rect">
            <a:avLst/>
          </a:prstGeom>
        </p:spPr>
        <p:txBody>
          <a:bodyPr wrap="none">
            <a:spAutoFit/>
          </a:bodyPr>
          <a:lstStyle/>
          <a:p>
            <a:r>
              <a:rPr lang="en-US" smtClean="0"/>
              <a:t>Throughout this book, we follow these principles:</a:t>
            </a:r>
            <a:endParaRPr lang="en-US"/>
          </a:p>
        </p:txBody>
      </p:sp>
      <p:sp>
        <p:nvSpPr>
          <p:cNvPr id="10" name="Rectangle 9"/>
          <p:cNvSpPr/>
          <p:nvPr/>
        </p:nvSpPr>
        <p:spPr>
          <a:xfrm>
            <a:off x="598777" y="1896124"/>
            <a:ext cx="10350500" cy="4524315"/>
          </a:xfrm>
          <a:prstGeom prst="rect">
            <a:avLst/>
          </a:prstGeom>
        </p:spPr>
        <p:txBody>
          <a:bodyPr wrap="square">
            <a:spAutoFit/>
          </a:bodyPr>
          <a:lstStyle/>
          <a:p>
            <a:r>
              <a:rPr lang="en-US" i="1" smtClean="0"/>
              <a:t>Teaching the whole game</a:t>
            </a:r>
          </a:p>
          <a:p>
            <a:pPr lvl="1"/>
            <a:r>
              <a:rPr lang="en-US" smtClean="0"/>
              <a:t>We’ll start off by showing you how to use a complete, working, usable, state-of-the-art deep learning network to solve real-world problems using simple, expressive tools. And then we’ll gradually dig deeper and deeper into understanding how those tools are made, and how the tools that make those tools are made, and so on…</a:t>
            </a:r>
          </a:p>
          <a:p>
            <a:endParaRPr lang="en-US" i="1" smtClean="0"/>
          </a:p>
          <a:p>
            <a:r>
              <a:rPr lang="en-US" i="1" smtClean="0"/>
              <a:t>Always teaching through examples</a:t>
            </a:r>
          </a:p>
          <a:p>
            <a:pPr lvl="1"/>
            <a:r>
              <a:rPr lang="en-US" smtClean="0"/>
              <a:t>We’ll ensure that there is a context and a purpose that you can understand intuitively, rather than starting with algebraic symbol manipulation.</a:t>
            </a:r>
          </a:p>
          <a:p>
            <a:endParaRPr lang="en-US" smtClean="0"/>
          </a:p>
          <a:p>
            <a:r>
              <a:rPr lang="en-US" i="1" smtClean="0"/>
              <a:t>Simplifying as much as possible</a:t>
            </a:r>
          </a:p>
          <a:p>
            <a:pPr lvl="1"/>
            <a:r>
              <a:rPr lang="en-US" smtClean="0"/>
              <a:t>We’ve spent years building tools and teaching methods that make previously complex topics simple.</a:t>
            </a:r>
          </a:p>
          <a:p>
            <a:endParaRPr lang="en-US" i="1" smtClean="0"/>
          </a:p>
          <a:p>
            <a:r>
              <a:rPr lang="en-US" i="1" smtClean="0"/>
              <a:t>Removing barriers</a:t>
            </a:r>
          </a:p>
          <a:p>
            <a:pPr lvl="1"/>
            <a:r>
              <a:rPr lang="en-US" smtClean="0"/>
              <a:t>Deep learning has, until now, been an exclusive game. We’re breaking it open and ensuring that everyone can play.</a:t>
            </a:r>
            <a:endParaRPr lang="en-US"/>
          </a:p>
        </p:txBody>
      </p:sp>
      <p:sp>
        <p:nvSpPr>
          <p:cNvPr id="11" name="Footer Placeholder 10"/>
          <p:cNvSpPr>
            <a:spLocks noGrp="1"/>
          </p:cNvSpPr>
          <p:nvPr>
            <p:ph type="ftr" sz="quarter" idx="11"/>
          </p:nvPr>
        </p:nvSpPr>
        <p:spPr/>
        <p:txBody>
          <a:bodyPr/>
          <a:lstStyle/>
          <a:p>
            <a:r>
              <a:rPr lang="en-US" smtClean="0"/>
              <a:t>Deep Learning for Coders with fastai and PyTorch</a:t>
            </a:r>
            <a:endParaRPr lang="en-US"/>
          </a:p>
        </p:txBody>
      </p:sp>
      <p:sp>
        <p:nvSpPr>
          <p:cNvPr id="12" name="Slide Number Placeholder 11"/>
          <p:cNvSpPr>
            <a:spLocks noGrp="1"/>
          </p:cNvSpPr>
          <p:nvPr>
            <p:ph type="sldNum" sz="quarter" idx="12"/>
          </p:nvPr>
        </p:nvSpPr>
        <p:spPr/>
        <p:txBody>
          <a:bodyPr/>
          <a:lstStyle/>
          <a:p>
            <a:fld id="{57C1D1D2-449B-426A-9851-D373D9EC211C}" type="slidenum">
              <a:rPr lang="en-US" smtClean="0"/>
              <a:t>4</a:t>
            </a:fld>
            <a:endParaRPr lang="en-US"/>
          </a:p>
        </p:txBody>
      </p:sp>
      <p:sp>
        <p:nvSpPr>
          <p:cNvPr id="13" name="Date Placeholder 12"/>
          <p:cNvSpPr>
            <a:spLocks noGrp="1"/>
          </p:cNvSpPr>
          <p:nvPr>
            <p:ph type="dt" sz="half" idx="10"/>
          </p:nvPr>
        </p:nvSpPr>
        <p:spPr/>
        <p:txBody>
          <a:bodyPr/>
          <a:lstStyle/>
          <a:p>
            <a:fld id="{3D188612-3ABD-4BB7-B7BD-9336D17DABB3}" type="datetime1">
              <a:rPr lang="en-US" smtClean="0"/>
              <a:t>9/13/2020</a:t>
            </a:fld>
            <a:endParaRPr lang="en-US"/>
          </a:p>
        </p:txBody>
      </p:sp>
    </p:spTree>
    <p:extLst>
      <p:ext uri="{BB962C8B-B14F-4D97-AF65-F5344CB8AC3E}">
        <p14:creationId xmlns:p14="http://schemas.microsoft.com/office/powerpoint/2010/main" val="2772608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2627194" cy="523220"/>
          </a:xfrm>
          <a:prstGeom prst="rect">
            <a:avLst/>
          </a:prstGeom>
          <a:noFill/>
        </p:spPr>
        <p:txBody>
          <a:bodyPr wrap="none" rtlCol="0">
            <a:spAutoFit/>
          </a:bodyPr>
          <a:lstStyle/>
          <a:p>
            <a:r>
              <a:rPr lang="en-US" sz="2800" b="1" smtClean="0">
                <a:solidFill>
                  <a:srgbClr val="FF0000"/>
                </a:solidFill>
              </a:rPr>
              <a:t>Your First Model</a:t>
            </a: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5</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1" name="Rectangle 10"/>
          <p:cNvSpPr/>
          <p:nvPr/>
        </p:nvSpPr>
        <p:spPr>
          <a:xfrm>
            <a:off x="598777" y="1528420"/>
            <a:ext cx="4015779" cy="400110"/>
          </a:xfrm>
          <a:prstGeom prst="rect">
            <a:avLst/>
          </a:prstGeom>
        </p:spPr>
        <p:txBody>
          <a:bodyPr wrap="none">
            <a:spAutoFit/>
          </a:bodyPr>
          <a:lstStyle/>
          <a:p>
            <a:r>
              <a:rPr lang="en-US" sz="2000" b="1" smtClean="0"/>
              <a:t>Getting a GPU Deep Learning Server</a:t>
            </a:r>
            <a:endParaRPr lang="en-US" sz="2000" b="1"/>
          </a:p>
        </p:txBody>
      </p:sp>
      <p:sp>
        <p:nvSpPr>
          <p:cNvPr id="12" name="Rectangle 11"/>
          <p:cNvSpPr/>
          <p:nvPr/>
        </p:nvSpPr>
        <p:spPr>
          <a:xfrm>
            <a:off x="598777" y="1930092"/>
            <a:ext cx="10755023" cy="923330"/>
          </a:xfrm>
          <a:prstGeom prst="rect">
            <a:avLst/>
          </a:prstGeom>
        </p:spPr>
        <p:txBody>
          <a:bodyPr wrap="square">
            <a:spAutoFit/>
          </a:bodyPr>
          <a:lstStyle/>
          <a:p>
            <a:r>
              <a:rPr lang="en-US" smtClean="0"/>
              <a:t>Graphics processing uni is a special kind of processor in your computer that can handle thousands of single tasks at the same time. </a:t>
            </a:r>
            <a:r>
              <a:rPr lang="en-US"/>
              <a:t>we </a:t>
            </a:r>
            <a:r>
              <a:rPr lang="en-US" smtClean="0"/>
              <a:t>suggest </a:t>
            </a:r>
            <a:r>
              <a:rPr lang="en-US"/>
              <a:t>you rent access to a computer that already has everything you need preinstalled and ready to </a:t>
            </a:r>
            <a:r>
              <a:rPr lang="en-US" smtClean="0"/>
              <a:t>go.</a:t>
            </a:r>
            <a:endParaRPr lang="en-US"/>
          </a:p>
        </p:txBody>
      </p:sp>
      <p:sp>
        <p:nvSpPr>
          <p:cNvPr id="13" name="Rectangle 12"/>
          <p:cNvSpPr/>
          <p:nvPr/>
        </p:nvSpPr>
        <p:spPr>
          <a:xfrm>
            <a:off x="598777" y="2885762"/>
            <a:ext cx="3231013" cy="400110"/>
          </a:xfrm>
          <a:prstGeom prst="rect">
            <a:avLst/>
          </a:prstGeom>
        </p:spPr>
        <p:txBody>
          <a:bodyPr wrap="none">
            <a:spAutoFit/>
          </a:bodyPr>
          <a:lstStyle/>
          <a:p>
            <a:r>
              <a:rPr lang="en-US" sz="2000" b="1" smtClean="0"/>
              <a:t>Running Your First Notebook</a:t>
            </a:r>
            <a:endParaRPr lang="en-US" sz="2000" b="1"/>
          </a:p>
        </p:txBody>
      </p:sp>
      <p:sp>
        <p:nvSpPr>
          <p:cNvPr id="14" name="Rectangle 13"/>
          <p:cNvSpPr/>
          <p:nvPr/>
        </p:nvSpPr>
        <p:spPr>
          <a:xfrm>
            <a:off x="598777" y="3287434"/>
            <a:ext cx="10539123" cy="923330"/>
          </a:xfrm>
          <a:prstGeom prst="rect">
            <a:avLst/>
          </a:prstGeom>
        </p:spPr>
        <p:txBody>
          <a:bodyPr wrap="square">
            <a:spAutoFit/>
          </a:bodyPr>
          <a:lstStyle/>
          <a:p>
            <a:pPr marL="342900" indent="-342900">
              <a:buAutoNum type="arabicPeriod"/>
            </a:pPr>
            <a:r>
              <a:rPr lang="en-US" smtClean="0"/>
              <a:t>A dataset called the Oxford-IIIT Pet Dataset that contains 7,349 images of cats and dogs from 37 breeds</a:t>
            </a:r>
          </a:p>
          <a:p>
            <a:pPr marL="342900" indent="-342900">
              <a:buAutoNum type="arabicPeriod"/>
            </a:pPr>
            <a:r>
              <a:rPr lang="en-US"/>
              <a:t>A </a:t>
            </a:r>
            <a:r>
              <a:rPr lang="en-US" i="1"/>
              <a:t>pretrained model</a:t>
            </a:r>
            <a:r>
              <a:rPr lang="en-US"/>
              <a:t> that has already been trained on 1.3 million </a:t>
            </a:r>
            <a:r>
              <a:rPr lang="en-US" smtClean="0"/>
              <a:t>images</a:t>
            </a:r>
          </a:p>
          <a:p>
            <a:pPr marL="342900" indent="-342900">
              <a:buAutoNum type="arabicPeriod"/>
            </a:pPr>
            <a:r>
              <a:rPr lang="en-US"/>
              <a:t>The pretrained model will be </a:t>
            </a:r>
            <a:r>
              <a:rPr lang="en-US" i="1"/>
              <a:t>fine-tuned</a:t>
            </a:r>
            <a:r>
              <a:rPr lang="en-US"/>
              <a:t> using the latest advances in transfer learning to create a model</a:t>
            </a:r>
          </a:p>
        </p:txBody>
      </p:sp>
      <p:sp>
        <p:nvSpPr>
          <p:cNvPr id="16" name="Rectangle 15"/>
          <p:cNvSpPr/>
          <p:nvPr/>
        </p:nvSpPr>
        <p:spPr>
          <a:xfrm>
            <a:off x="598777" y="4243104"/>
            <a:ext cx="3074111" cy="400110"/>
          </a:xfrm>
          <a:prstGeom prst="rect">
            <a:avLst/>
          </a:prstGeom>
        </p:spPr>
        <p:txBody>
          <a:bodyPr wrap="none">
            <a:spAutoFit/>
          </a:bodyPr>
          <a:lstStyle/>
          <a:p>
            <a:r>
              <a:rPr lang="en-US" sz="2000" b="1" smtClean="0"/>
              <a:t>What Is Machine Learning?</a:t>
            </a:r>
            <a:endParaRPr lang="en-US" sz="2000" b="1"/>
          </a:p>
        </p:txBody>
      </p:sp>
      <p:sp>
        <p:nvSpPr>
          <p:cNvPr id="18" name="Rectangle 17"/>
          <p:cNvSpPr/>
          <p:nvPr/>
        </p:nvSpPr>
        <p:spPr>
          <a:xfrm>
            <a:off x="598777" y="4644776"/>
            <a:ext cx="10755023" cy="1200329"/>
          </a:xfrm>
          <a:prstGeom prst="rect">
            <a:avLst/>
          </a:prstGeom>
        </p:spPr>
        <p:txBody>
          <a:bodyPr wrap="square">
            <a:spAutoFit/>
          </a:bodyPr>
          <a:lstStyle/>
          <a:p>
            <a:r>
              <a:rPr lang="en-US" smtClean="0"/>
              <a:t>Machine learning is, like regular programming, a way to get computers to complete a specific task.</a:t>
            </a:r>
          </a:p>
          <a:p>
            <a:endParaRPr lang="en-US" smtClean="0"/>
          </a:p>
          <a:p>
            <a:r>
              <a:rPr lang="en-US"/>
              <a:t>Arthur Samuel </a:t>
            </a:r>
            <a:r>
              <a:rPr lang="en-US" smtClean="0"/>
              <a:t>basic </a:t>
            </a:r>
            <a:r>
              <a:rPr lang="en-US"/>
              <a:t>idea was this: instead of telling the computer the exact steps required to solve a problem, show it examples of the problem to solve, and let it figure out how to solve it itself</a:t>
            </a:r>
          </a:p>
        </p:txBody>
      </p:sp>
    </p:spTree>
    <p:extLst>
      <p:ext uri="{BB962C8B-B14F-4D97-AF65-F5344CB8AC3E}">
        <p14:creationId xmlns:p14="http://schemas.microsoft.com/office/powerpoint/2010/main" val="20152998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6</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6" name="Rectangle 15"/>
          <p:cNvSpPr/>
          <p:nvPr/>
        </p:nvSpPr>
        <p:spPr>
          <a:xfrm>
            <a:off x="598777" y="1073853"/>
            <a:ext cx="3074111" cy="400110"/>
          </a:xfrm>
          <a:prstGeom prst="rect">
            <a:avLst/>
          </a:prstGeom>
        </p:spPr>
        <p:txBody>
          <a:bodyPr wrap="none">
            <a:spAutoFit/>
          </a:bodyPr>
          <a:lstStyle/>
          <a:p>
            <a:r>
              <a:rPr lang="en-US" sz="2000" b="1" smtClean="0"/>
              <a:t>What Is Machine Learning?</a:t>
            </a:r>
            <a:endParaRPr lang="en-US" sz="2000" b="1"/>
          </a:p>
        </p:txBody>
      </p:sp>
      <p:pic>
        <p:nvPicPr>
          <p:cNvPr id="9" name="Picture 8"/>
          <p:cNvPicPr>
            <a:picLocks noChangeAspect="1"/>
          </p:cNvPicPr>
          <p:nvPr/>
        </p:nvPicPr>
        <p:blipFill>
          <a:blip r:embed="rId2"/>
          <a:stretch>
            <a:fillRect/>
          </a:stretch>
        </p:blipFill>
        <p:spPr>
          <a:xfrm>
            <a:off x="2438400" y="3982035"/>
            <a:ext cx="7864475" cy="1578554"/>
          </a:xfrm>
          <a:prstGeom prst="rect">
            <a:avLst/>
          </a:prstGeom>
        </p:spPr>
      </p:pic>
      <p:sp>
        <p:nvSpPr>
          <p:cNvPr id="10" name="Rectangle 9"/>
          <p:cNvSpPr/>
          <p:nvPr/>
        </p:nvSpPr>
        <p:spPr>
          <a:xfrm>
            <a:off x="3688332" y="5773803"/>
            <a:ext cx="4465068" cy="369332"/>
          </a:xfrm>
          <a:prstGeom prst="rect">
            <a:avLst/>
          </a:prstGeom>
        </p:spPr>
        <p:txBody>
          <a:bodyPr wrap="none">
            <a:spAutoFit/>
          </a:bodyPr>
          <a:lstStyle/>
          <a:p>
            <a:r>
              <a:rPr lang="en-US" smtClean="0"/>
              <a:t>Figure 1-2. Training a machine learning model</a:t>
            </a:r>
            <a:endParaRPr lang="en-US"/>
          </a:p>
        </p:txBody>
      </p:sp>
      <p:sp>
        <p:nvSpPr>
          <p:cNvPr id="15" name="Rectangle 14"/>
          <p:cNvSpPr/>
          <p:nvPr/>
        </p:nvSpPr>
        <p:spPr>
          <a:xfrm>
            <a:off x="640332" y="1471064"/>
            <a:ext cx="10713468" cy="2308324"/>
          </a:xfrm>
          <a:prstGeom prst="rect">
            <a:avLst/>
          </a:prstGeom>
        </p:spPr>
        <p:txBody>
          <a:bodyPr wrap="square">
            <a:spAutoFit/>
          </a:bodyPr>
          <a:lstStyle/>
          <a:p>
            <a:pPr marL="285750" indent="-285750">
              <a:buFont typeface="Wingdings" panose="05000000000000000000" pitchFamily="2" charset="2"/>
              <a:buChar char="§"/>
            </a:pPr>
            <a:r>
              <a:rPr lang="en-US" b="1" i="1" smtClean="0"/>
              <a:t>Weights</a:t>
            </a:r>
            <a:r>
              <a:rPr lang="en-US" smtClean="0"/>
              <a:t> are just variables, and a weight assignment is a particular choice of values for those variables. The program’s inputs are values that it processes in order to produce its results</a:t>
            </a:r>
          </a:p>
          <a:p>
            <a:pPr marL="285750" indent="-285750">
              <a:buFont typeface="Wingdings" panose="05000000000000000000" pitchFamily="2" charset="2"/>
              <a:buChar char="§"/>
            </a:pPr>
            <a:r>
              <a:rPr lang="en-US" b="1" i="1"/>
              <a:t>M</a:t>
            </a:r>
            <a:r>
              <a:rPr lang="en-US" b="1" i="1" smtClean="0"/>
              <a:t>odel</a:t>
            </a:r>
            <a:r>
              <a:rPr lang="en-US" smtClean="0"/>
              <a:t> is a special kind of program: it’s one that can do many different things, depending on the weights. It can be implemented in many different ways.</a:t>
            </a:r>
          </a:p>
          <a:p>
            <a:pPr marL="285750" indent="-285750">
              <a:buFont typeface="Wingdings" panose="05000000000000000000" pitchFamily="2" charset="2"/>
              <a:buChar char="§"/>
            </a:pPr>
            <a:r>
              <a:rPr lang="en-US" smtClean="0"/>
              <a:t>we need an automatic means of testing the effectiveness of any current weight assignment in terms of actual performance.</a:t>
            </a:r>
          </a:p>
          <a:p>
            <a:pPr marL="285750" indent="-285750">
              <a:buFont typeface="Wingdings" panose="05000000000000000000" pitchFamily="2" charset="2"/>
              <a:buChar char="§"/>
            </a:pPr>
            <a:r>
              <a:rPr lang="en-US" smtClean="0"/>
              <a:t>Learning would become entirely automatic when the adjustment of the weights was also relied on an automated mechanism that produced adjustments based on performance.</a:t>
            </a:r>
            <a:endParaRPr lang="en-US"/>
          </a:p>
        </p:txBody>
      </p:sp>
    </p:spTree>
    <p:extLst>
      <p:ext uri="{BB962C8B-B14F-4D97-AF65-F5344CB8AC3E}">
        <p14:creationId xmlns:p14="http://schemas.microsoft.com/office/powerpoint/2010/main" val="6850505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7</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6" name="Rectangle 15"/>
          <p:cNvSpPr/>
          <p:nvPr/>
        </p:nvSpPr>
        <p:spPr>
          <a:xfrm>
            <a:off x="598777" y="1073853"/>
            <a:ext cx="3051797" cy="400110"/>
          </a:xfrm>
          <a:prstGeom prst="rect">
            <a:avLst/>
          </a:prstGeom>
        </p:spPr>
        <p:txBody>
          <a:bodyPr wrap="none">
            <a:spAutoFit/>
          </a:bodyPr>
          <a:lstStyle/>
          <a:p>
            <a:r>
              <a:rPr lang="en-US" sz="2000" b="1" smtClean="0"/>
              <a:t>What Is a Neural Network?</a:t>
            </a:r>
            <a:endParaRPr lang="en-US" sz="2000" b="1"/>
          </a:p>
        </p:txBody>
      </p:sp>
      <p:sp>
        <p:nvSpPr>
          <p:cNvPr id="6" name="Rectangle 5"/>
          <p:cNvSpPr/>
          <p:nvPr/>
        </p:nvSpPr>
        <p:spPr>
          <a:xfrm>
            <a:off x="598776" y="1459606"/>
            <a:ext cx="10755023" cy="1831271"/>
          </a:xfrm>
          <a:prstGeom prst="rect">
            <a:avLst/>
          </a:prstGeom>
        </p:spPr>
        <p:txBody>
          <a:bodyPr wrap="square">
            <a:spAutoFit/>
          </a:bodyPr>
          <a:lstStyle/>
          <a:p>
            <a:pPr>
              <a:spcAft>
                <a:spcPts val="600"/>
              </a:spcAft>
            </a:pPr>
            <a:r>
              <a:rPr lang="en-US" smtClean="0"/>
              <a:t>That is, if you regard a neural network as a mathematical function, it turns out to be a function that is extremely flexible depending on its weights. A mathematical proof called the universal approximation theorem shows that this function can solve any problem to any level of accuracy, in theory</a:t>
            </a:r>
          </a:p>
          <a:p>
            <a:pPr>
              <a:spcAft>
                <a:spcPts val="600"/>
              </a:spcAft>
            </a:pPr>
            <a:r>
              <a:rPr lang="en-US" b="1" smtClean="0"/>
              <a:t>Neural network </a:t>
            </a:r>
            <a:r>
              <a:rPr lang="en-US" smtClean="0"/>
              <a:t>is a particular kind of machine learning model. Neural networks are special because they are highly flexible, which means they can solve an unusually wide range of problems just by finding the right weights. This is powerful, because </a:t>
            </a:r>
            <a:r>
              <a:rPr lang="en-US" b="1" i="1" smtClean="0"/>
              <a:t>stochastic gradient descent</a:t>
            </a:r>
            <a:r>
              <a:rPr lang="en-US" smtClean="0"/>
              <a:t> provides us a way to find those weight values automatically.</a:t>
            </a:r>
            <a:endParaRPr lang="en-US"/>
          </a:p>
        </p:txBody>
      </p:sp>
      <p:pic>
        <p:nvPicPr>
          <p:cNvPr id="11" name="Picture 10"/>
          <p:cNvPicPr>
            <a:picLocks noChangeAspect="1"/>
          </p:cNvPicPr>
          <p:nvPr/>
        </p:nvPicPr>
        <p:blipFill>
          <a:blip r:embed="rId2"/>
          <a:stretch>
            <a:fillRect/>
          </a:stretch>
        </p:blipFill>
        <p:spPr>
          <a:xfrm>
            <a:off x="2870200" y="3602130"/>
            <a:ext cx="6908800" cy="1813055"/>
          </a:xfrm>
          <a:prstGeom prst="rect">
            <a:avLst/>
          </a:prstGeom>
        </p:spPr>
      </p:pic>
      <p:sp>
        <p:nvSpPr>
          <p:cNvPr id="12" name="Rectangle 11"/>
          <p:cNvSpPr/>
          <p:nvPr/>
        </p:nvSpPr>
        <p:spPr>
          <a:xfrm>
            <a:off x="4343756" y="5541772"/>
            <a:ext cx="3265061" cy="369332"/>
          </a:xfrm>
          <a:prstGeom prst="rect">
            <a:avLst/>
          </a:prstGeom>
        </p:spPr>
        <p:txBody>
          <a:bodyPr wrap="none">
            <a:spAutoFit/>
          </a:bodyPr>
          <a:lstStyle/>
          <a:p>
            <a:r>
              <a:rPr lang="en-US" smtClean="0"/>
              <a:t>Figure 1-3. Detailed training loop</a:t>
            </a:r>
            <a:endParaRPr lang="en-US"/>
          </a:p>
        </p:txBody>
      </p:sp>
    </p:spTree>
    <p:extLst>
      <p:ext uri="{BB962C8B-B14F-4D97-AF65-F5344CB8AC3E}">
        <p14:creationId xmlns:p14="http://schemas.microsoft.com/office/powerpoint/2010/main" val="14933754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8</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6" name="Rectangle 15"/>
          <p:cNvSpPr/>
          <p:nvPr/>
        </p:nvSpPr>
        <p:spPr>
          <a:xfrm>
            <a:off x="598777" y="1073853"/>
            <a:ext cx="4580293" cy="400110"/>
          </a:xfrm>
          <a:prstGeom prst="rect">
            <a:avLst/>
          </a:prstGeom>
        </p:spPr>
        <p:txBody>
          <a:bodyPr wrap="none">
            <a:spAutoFit/>
          </a:bodyPr>
          <a:lstStyle/>
          <a:p>
            <a:r>
              <a:rPr lang="en-US" sz="2000" b="1" smtClean="0"/>
              <a:t>Limitations Inherent to Machine Learning</a:t>
            </a:r>
            <a:endParaRPr lang="en-US" sz="2000" b="1"/>
          </a:p>
        </p:txBody>
      </p:sp>
      <p:sp>
        <p:nvSpPr>
          <p:cNvPr id="9" name="Rectangle 8"/>
          <p:cNvSpPr/>
          <p:nvPr/>
        </p:nvSpPr>
        <p:spPr>
          <a:xfrm>
            <a:off x="598777" y="1526792"/>
            <a:ext cx="10158123" cy="1985159"/>
          </a:xfrm>
          <a:prstGeom prst="rect">
            <a:avLst/>
          </a:prstGeom>
        </p:spPr>
        <p:txBody>
          <a:bodyPr wrap="square">
            <a:spAutoFit/>
          </a:bodyPr>
          <a:lstStyle/>
          <a:p>
            <a:pPr marL="285750" indent="-285750">
              <a:spcAft>
                <a:spcPts val="600"/>
              </a:spcAft>
              <a:buFont typeface="Wingdings" panose="05000000000000000000" pitchFamily="2" charset="2"/>
              <a:buChar char="§"/>
            </a:pPr>
            <a:r>
              <a:rPr lang="en-US" smtClean="0"/>
              <a:t>A model cannot be created without data.</a:t>
            </a:r>
          </a:p>
          <a:p>
            <a:pPr marL="285750" indent="-285750">
              <a:spcAft>
                <a:spcPts val="600"/>
              </a:spcAft>
              <a:buFont typeface="Wingdings" panose="05000000000000000000" pitchFamily="2" charset="2"/>
              <a:buChar char="§"/>
            </a:pPr>
            <a:r>
              <a:rPr lang="en-US" smtClean="0"/>
              <a:t>A model can learn to operate on only the patterns seen in the input data used to train it.</a:t>
            </a:r>
          </a:p>
          <a:p>
            <a:pPr marL="285750" indent="-285750">
              <a:spcAft>
                <a:spcPts val="600"/>
              </a:spcAft>
              <a:buFont typeface="Wingdings" panose="05000000000000000000" pitchFamily="2" charset="2"/>
              <a:buChar char="§"/>
            </a:pPr>
            <a:r>
              <a:rPr lang="en-US" smtClean="0"/>
              <a:t>This learning approach creates only predictions, not recommended actions.</a:t>
            </a:r>
          </a:p>
          <a:p>
            <a:pPr marL="285750" indent="-285750">
              <a:spcAft>
                <a:spcPts val="600"/>
              </a:spcAft>
              <a:buFont typeface="Wingdings" panose="05000000000000000000" pitchFamily="2" charset="2"/>
              <a:buChar char="§"/>
            </a:pPr>
            <a:r>
              <a:rPr lang="en-US" smtClean="0"/>
              <a:t>It’s not enough to just have examples of input data; we need labels for that data too (e.g., pictures of dogs and cats aren’t enough to train a model; we need a label for each one, saying which ones are dogs and which are cats).</a:t>
            </a:r>
            <a:endParaRPr lang="en-US"/>
          </a:p>
        </p:txBody>
      </p:sp>
      <p:sp>
        <p:nvSpPr>
          <p:cNvPr id="6" name="Rectangle 5"/>
          <p:cNvSpPr/>
          <p:nvPr/>
        </p:nvSpPr>
        <p:spPr>
          <a:xfrm>
            <a:off x="598777" y="3964418"/>
            <a:ext cx="10360168" cy="646331"/>
          </a:xfrm>
          <a:prstGeom prst="rect">
            <a:avLst/>
          </a:prstGeom>
        </p:spPr>
        <p:txBody>
          <a:bodyPr wrap="square">
            <a:spAutoFit/>
          </a:bodyPr>
          <a:lstStyle/>
          <a:p>
            <a:r>
              <a:rPr lang="en-US"/>
              <a:t>we’ve seen that most organizations that say they don’t have enough data actually mean they don’t have enough labeled data.</a:t>
            </a:r>
          </a:p>
        </p:txBody>
      </p:sp>
    </p:spTree>
    <p:extLst>
      <p:ext uri="{BB962C8B-B14F-4D97-AF65-F5344CB8AC3E}">
        <p14:creationId xmlns:p14="http://schemas.microsoft.com/office/powerpoint/2010/main" val="836737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9</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6" name="Rectangle 15"/>
          <p:cNvSpPr/>
          <p:nvPr/>
        </p:nvSpPr>
        <p:spPr>
          <a:xfrm>
            <a:off x="598777" y="1073853"/>
            <a:ext cx="1338251" cy="400110"/>
          </a:xfrm>
          <a:prstGeom prst="rect">
            <a:avLst/>
          </a:prstGeom>
        </p:spPr>
        <p:txBody>
          <a:bodyPr wrap="none">
            <a:spAutoFit/>
          </a:bodyPr>
          <a:lstStyle/>
          <a:p>
            <a:r>
              <a:rPr lang="en-US" sz="2000" b="1"/>
              <a:t>Overfitting</a:t>
            </a:r>
          </a:p>
        </p:txBody>
      </p:sp>
      <p:sp>
        <p:nvSpPr>
          <p:cNvPr id="10" name="Rectangle 9"/>
          <p:cNvSpPr/>
          <p:nvPr/>
        </p:nvSpPr>
        <p:spPr>
          <a:xfrm>
            <a:off x="598776" y="1571332"/>
            <a:ext cx="10872787" cy="1200329"/>
          </a:xfrm>
          <a:prstGeom prst="rect">
            <a:avLst/>
          </a:prstGeom>
        </p:spPr>
        <p:txBody>
          <a:bodyPr wrap="square">
            <a:spAutoFit/>
          </a:bodyPr>
          <a:lstStyle/>
          <a:p>
            <a:r>
              <a:rPr lang="en-US"/>
              <a:t>As a result, the longer you train for, the better your accuracy will get on the training set; the validation set accuracy will also improve for a while, but eventually it will start getting worse as the model starts to memorize the training set rather than finding generalizable underlying patterns in the data. When this happens, we say that the model is overfitting.</a:t>
            </a:r>
          </a:p>
        </p:txBody>
      </p:sp>
      <p:pic>
        <p:nvPicPr>
          <p:cNvPr id="11" name="Picture 10"/>
          <p:cNvPicPr>
            <a:picLocks noChangeAspect="1"/>
          </p:cNvPicPr>
          <p:nvPr/>
        </p:nvPicPr>
        <p:blipFill>
          <a:blip r:embed="rId2"/>
          <a:stretch>
            <a:fillRect/>
          </a:stretch>
        </p:blipFill>
        <p:spPr>
          <a:xfrm>
            <a:off x="5220999" y="2771661"/>
            <a:ext cx="6250564" cy="2821966"/>
          </a:xfrm>
          <a:prstGeom prst="rect">
            <a:avLst/>
          </a:prstGeom>
        </p:spPr>
      </p:pic>
      <p:sp>
        <p:nvSpPr>
          <p:cNvPr id="12" name="Rectangle 11"/>
          <p:cNvSpPr/>
          <p:nvPr/>
        </p:nvSpPr>
        <p:spPr>
          <a:xfrm>
            <a:off x="6719990" y="5605656"/>
            <a:ext cx="3301609" cy="369332"/>
          </a:xfrm>
          <a:prstGeom prst="rect">
            <a:avLst/>
          </a:prstGeom>
        </p:spPr>
        <p:txBody>
          <a:bodyPr wrap="none">
            <a:spAutoFit/>
          </a:bodyPr>
          <a:lstStyle/>
          <a:p>
            <a:r>
              <a:rPr lang="en-US"/>
              <a:t>Figure </a:t>
            </a:r>
            <a:r>
              <a:rPr lang="en-US" smtClean="0"/>
              <a:t>1-4. </a:t>
            </a:r>
            <a:r>
              <a:rPr lang="en-US"/>
              <a:t>Example of overfitting</a:t>
            </a:r>
          </a:p>
        </p:txBody>
      </p:sp>
      <p:sp>
        <p:nvSpPr>
          <p:cNvPr id="13" name="Rectangle 12"/>
          <p:cNvSpPr/>
          <p:nvPr/>
        </p:nvSpPr>
        <p:spPr>
          <a:xfrm>
            <a:off x="598776" y="2869030"/>
            <a:ext cx="4440382" cy="2585323"/>
          </a:xfrm>
          <a:prstGeom prst="rect">
            <a:avLst/>
          </a:prstGeom>
        </p:spPr>
        <p:txBody>
          <a:bodyPr wrap="square">
            <a:spAutoFit/>
          </a:bodyPr>
          <a:lstStyle/>
          <a:p>
            <a:pPr algn="just"/>
            <a:r>
              <a:rPr lang="en-US"/>
              <a:t>Overfitting is the single most important and challenging issue when training for all machine learning practitioners, and all algorithms. As you will see, it is easy to create a model that does a great job at making predictions on the exact data it has been trained on, but it is much harder to make accurate predictions on data the model has never seen </a:t>
            </a:r>
            <a:r>
              <a:rPr lang="en-US" smtClean="0"/>
              <a:t>before.</a:t>
            </a:r>
            <a:endParaRPr lang="en-US"/>
          </a:p>
        </p:txBody>
      </p:sp>
    </p:spTree>
    <p:extLst>
      <p:ext uri="{BB962C8B-B14F-4D97-AF65-F5344CB8AC3E}">
        <p14:creationId xmlns:p14="http://schemas.microsoft.com/office/powerpoint/2010/main" val="38786817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10</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1639551" cy="400110"/>
          </a:xfrm>
          <a:prstGeom prst="rect">
            <a:avLst/>
          </a:prstGeom>
          <a:noFill/>
        </p:spPr>
        <p:txBody>
          <a:bodyPr wrap="none" rtlCol="0">
            <a:spAutoFit/>
          </a:bodyPr>
          <a:lstStyle/>
          <a:p>
            <a:r>
              <a:rPr lang="en-US" sz="2000" b="1" smtClean="0"/>
              <a:t>Validation set</a:t>
            </a:r>
            <a:endParaRPr lang="en-US" sz="2000" b="1"/>
          </a:p>
        </p:txBody>
      </p:sp>
      <p:sp>
        <p:nvSpPr>
          <p:cNvPr id="9" name="Rectangle 8"/>
          <p:cNvSpPr/>
          <p:nvPr/>
        </p:nvSpPr>
        <p:spPr>
          <a:xfrm>
            <a:off x="598777" y="1574437"/>
            <a:ext cx="10755023" cy="1200329"/>
          </a:xfrm>
          <a:prstGeom prst="rect">
            <a:avLst/>
          </a:prstGeom>
        </p:spPr>
        <p:txBody>
          <a:bodyPr wrap="square">
            <a:spAutoFit/>
          </a:bodyPr>
          <a:lstStyle/>
          <a:p>
            <a:r>
              <a:rPr lang="en-US"/>
              <a:t>When you train a model, you must always have both a training set and a validation set, and you must measure the accuracy of your model only on the validation set. If you train for too long, with not enough data, you will see the accuracy of your model start to get worse; this is called </a:t>
            </a:r>
            <a:r>
              <a:rPr lang="en-US" i="1"/>
              <a:t>overfitting</a:t>
            </a:r>
            <a:r>
              <a:rPr lang="en-US"/>
              <a:t>. fastai defaults valid_pct to 0.2, so even if you forget, fastai will create a validation set for you!</a:t>
            </a:r>
          </a:p>
        </p:txBody>
      </p:sp>
      <p:sp>
        <p:nvSpPr>
          <p:cNvPr id="14" name="Rectangle 13"/>
          <p:cNvSpPr/>
          <p:nvPr/>
        </p:nvSpPr>
        <p:spPr>
          <a:xfrm>
            <a:off x="570249" y="3346921"/>
            <a:ext cx="10755023" cy="646331"/>
          </a:xfrm>
          <a:prstGeom prst="rect">
            <a:avLst/>
          </a:prstGeom>
        </p:spPr>
        <p:txBody>
          <a:bodyPr wrap="square">
            <a:spAutoFit/>
          </a:bodyPr>
          <a:lstStyle/>
          <a:p>
            <a:r>
              <a:rPr lang="en-US"/>
              <a:t>A </a:t>
            </a:r>
            <a:r>
              <a:rPr lang="en-US" i="1"/>
              <a:t>metric</a:t>
            </a:r>
            <a:r>
              <a:rPr lang="en-US"/>
              <a:t> is a function that measures the </a:t>
            </a:r>
            <a:r>
              <a:rPr lang="en-US" i="1"/>
              <a:t>quality of the model’s predictions </a:t>
            </a:r>
            <a:r>
              <a:rPr lang="en-US"/>
              <a:t>using the validation set, and will be printed at the end of each epoch.</a:t>
            </a:r>
          </a:p>
        </p:txBody>
      </p:sp>
      <p:sp>
        <p:nvSpPr>
          <p:cNvPr id="17" name="TextBox 16"/>
          <p:cNvSpPr txBox="1"/>
          <p:nvPr/>
        </p:nvSpPr>
        <p:spPr>
          <a:xfrm>
            <a:off x="570249" y="2872936"/>
            <a:ext cx="886653" cy="400110"/>
          </a:xfrm>
          <a:prstGeom prst="rect">
            <a:avLst/>
          </a:prstGeom>
          <a:noFill/>
        </p:spPr>
        <p:txBody>
          <a:bodyPr wrap="none" rtlCol="0">
            <a:spAutoFit/>
          </a:bodyPr>
          <a:lstStyle/>
          <a:p>
            <a:r>
              <a:rPr lang="en-US" sz="2000" b="1" smtClean="0"/>
              <a:t>Metric</a:t>
            </a:r>
            <a:endParaRPr lang="en-US" sz="2000" b="1"/>
          </a:p>
        </p:txBody>
      </p:sp>
      <p:sp>
        <p:nvSpPr>
          <p:cNvPr id="15" name="Rectangle 14"/>
          <p:cNvSpPr/>
          <p:nvPr/>
        </p:nvSpPr>
        <p:spPr>
          <a:xfrm>
            <a:off x="598776" y="4003636"/>
            <a:ext cx="10726495" cy="646331"/>
          </a:xfrm>
          <a:prstGeom prst="rect">
            <a:avLst/>
          </a:prstGeom>
        </p:spPr>
        <p:txBody>
          <a:bodyPr wrap="square">
            <a:spAutoFit/>
          </a:bodyPr>
          <a:lstStyle/>
          <a:p>
            <a:r>
              <a:rPr lang="en-US"/>
              <a:t>The concept of a metric may remind you of </a:t>
            </a:r>
            <a:r>
              <a:rPr lang="en-US" i="1"/>
              <a:t>loss</a:t>
            </a:r>
            <a:r>
              <a:rPr lang="en-US"/>
              <a:t>, but there is an important distinction. The entire purpose of loss is to define a “</a:t>
            </a:r>
            <a:r>
              <a:rPr lang="en-US" i="1"/>
              <a:t>measure of performance</a:t>
            </a:r>
            <a:r>
              <a:rPr lang="en-US"/>
              <a:t>” that the training system can use to update weights automatically</a:t>
            </a:r>
          </a:p>
        </p:txBody>
      </p:sp>
      <p:sp>
        <p:nvSpPr>
          <p:cNvPr id="18" name="Rectangle 17"/>
          <p:cNvSpPr/>
          <p:nvPr/>
        </p:nvSpPr>
        <p:spPr>
          <a:xfrm>
            <a:off x="570249" y="4705685"/>
            <a:ext cx="1118704" cy="400110"/>
          </a:xfrm>
          <a:prstGeom prst="rect">
            <a:avLst/>
          </a:prstGeom>
        </p:spPr>
        <p:txBody>
          <a:bodyPr wrap="none">
            <a:spAutoFit/>
          </a:bodyPr>
          <a:lstStyle/>
          <a:p>
            <a:r>
              <a:rPr lang="en-US" sz="2000" b="1" smtClean="0"/>
              <a:t>Pre-train</a:t>
            </a:r>
            <a:endParaRPr lang="en-US" sz="2000" b="1"/>
          </a:p>
        </p:txBody>
      </p:sp>
      <p:sp>
        <p:nvSpPr>
          <p:cNvPr id="19" name="Rectangle 18"/>
          <p:cNvSpPr/>
          <p:nvPr/>
        </p:nvSpPr>
        <p:spPr>
          <a:xfrm>
            <a:off x="570249" y="5161513"/>
            <a:ext cx="10755022" cy="923330"/>
          </a:xfrm>
          <a:prstGeom prst="rect">
            <a:avLst/>
          </a:prstGeom>
        </p:spPr>
        <p:txBody>
          <a:bodyPr wrap="square">
            <a:spAutoFit/>
          </a:bodyPr>
          <a:lstStyle/>
          <a:p>
            <a:r>
              <a:rPr lang="en-US"/>
              <a:t>A model that has weights that have already been trained on another dataset is called a pretrained model. You should nearly always use a pretrained model, because it means that your model, before you’ve even shown it any of your data, is already very </a:t>
            </a:r>
            <a:r>
              <a:rPr lang="en-US" smtClean="0"/>
              <a:t>capable.</a:t>
            </a:r>
            <a:endParaRPr lang="en-US"/>
          </a:p>
        </p:txBody>
      </p:sp>
    </p:spTree>
    <p:extLst>
      <p:ext uri="{BB962C8B-B14F-4D97-AF65-F5344CB8AC3E}">
        <p14:creationId xmlns:p14="http://schemas.microsoft.com/office/powerpoint/2010/main" val="36642826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11</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1975477" cy="400110"/>
          </a:xfrm>
          <a:prstGeom prst="rect">
            <a:avLst/>
          </a:prstGeom>
          <a:noFill/>
        </p:spPr>
        <p:txBody>
          <a:bodyPr wrap="none" rtlCol="0">
            <a:spAutoFit/>
          </a:bodyPr>
          <a:lstStyle/>
          <a:p>
            <a:r>
              <a:rPr lang="en-US" sz="2000" b="1"/>
              <a:t>T</a:t>
            </a:r>
            <a:r>
              <a:rPr lang="en-US" sz="2000" b="1" smtClean="0"/>
              <a:t>ransfer </a:t>
            </a:r>
            <a:r>
              <a:rPr lang="en-US" sz="2000" b="1"/>
              <a:t>learning</a:t>
            </a:r>
          </a:p>
        </p:txBody>
      </p:sp>
      <p:sp>
        <p:nvSpPr>
          <p:cNvPr id="10" name="Rectangle 9"/>
          <p:cNvSpPr/>
          <p:nvPr/>
        </p:nvSpPr>
        <p:spPr>
          <a:xfrm>
            <a:off x="598776" y="1619125"/>
            <a:ext cx="10872787" cy="369332"/>
          </a:xfrm>
          <a:prstGeom prst="rect">
            <a:avLst/>
          </a:prstGeom>
        </p:spPr>
        <p:txBody>
          <a:bodyPr wrap="square">
            <a:spAutoFit/>
          </a:bodyPr>
          <a:lstStyle/>
          <a:p>
            <a:r>
              <a:rPr lang="en-US"/>
              <a:t>Using a pretrained model for a task different from what it was originally trained for is known as </a:t>
            </a:r>
            <a:r>
              <a:rPr lang="en-US" i="1"/>
              <a:t>transfer </a:t>
            </a:r>
            <a:r>
              <a:rPr lang="en-US" i="1" smtClean="0"/>
              <a:t>learning.</a:t>
            </a:r>
            <a:endParaRPr lang="en-US" i="1"/>
          </a:p>
        </p:txBody>
      </p:sp>
      <p:sp>
        <p:nvSpPr>
          <p:cNvPr id="11" name="Rectangle 10"/>
          <p:cNvSpPr/>
          <p:nvPr/>
        </p:nvSpPr>
        <p:spPr>
          <a:xfrm>
            <a:off x="598776" y="2824653"/>
            <a:ext cx="933269" cy="400110"/>
          </a:xfrm>
          <a:prstGeom prst="rect">
            <a:avLst/>
          </a:prstGeom>
        </p:spPr>
        <p:txBody>
          <a:bodyPr wrap="none">
            <a:spAutoFit/>
          </a:bodyPr>
          <a:lstStyle/>
          <a:p>
            <a:r>
              <a:rPr lang="en-US" sz="2000" b="1" smtClean="0"/>
              <a:t>Epochs</a:t>
            </a:r>
            <a:endParaRPr lang="en-US" sz="2000" b="1"/>
          </a:p>
        </p:txBody>
      </p:sp>
      <p:sp>
        <p:nvSpPr>
          <p:cNvPr id="12" name="Rectangle 11"/>
          <p:cNvSpPr/>
          <p:nvPr/>
        </p:nvSpPr>
        <p:spPr>
          <a:xfrm>
            <a:off x="598776" y="3310629"/>
            <a:ext cx="10755024" cy="1200329"/>
          </a:xfrm>
          <a:prstGeom prst="rect">
            <a:avLst/>
          </a:prstGeom>
        </p:spPr>
        <p:txBody>
          <a:bodyPr wrap="square">
            <a:spAutoFit/>
          </a:bodyPr>
          <a:lstStyle/>
          <a:p>
            <a:r>
              <a:rPr lang="en-US"/>
              <a:t>To fit a model, we have to provide at least one piece of information: how many times to look at each image (known as number of epochs). The number of epochs you select will largely depend on how much time you have available, and how long you find it takes in practice to fit your model. If you select a number that is too small, you can always train for more epochs later.</a:t>
            </a:r>
          </a:p>
        </p:txBody>
      </p:sp>
      <p:sp>
        <p:nvSpPr>
          <p:cNvPr id="16" name="Rectangle 15"/>
          <p:cNvSpPr/>
          <p:nvPr/>
        </p:nvSpPr>
        <p:spPr>
          <a:xfrm>
            <a:off x="598776" y="4596824"/>
            <a:ext cx="10718078" cy="923330"/>
          </a:xfrm>
          <a:prstGeom prst="rect">
            <a:avLst/>
          </a:prstGeom>
        </p:spPr>
        <p:txBody>
          <a:bodyPr wrap="square">
            <a:spAutoFit/>
          </a:bodyPr>
          <a:lstStyle/>
          <a:p>
            <a:r>
              <a:rPr lang="en-US"/>
              <a:t>An epoch is one complete pass through the dataset. After calling fit, the results after each epoch are printed, showing the epoch number, the training and validation set losses (the “measure of performance” used for training the model), and any metrics you’ve requested.</a:t>
            </a:r>
          </a:p>
        </p:txBody>
      </p:sp>
      <p:sp>
        <p:nvSpPr>
          <p:cNvPr id="20" name="Rectangle 19"/>
          <p:cNvSpPr/>
          <p:nvPr/>
        </p:nvSpPr>
        <p:spPr>
          <a:xfrm>
            <a:off x="598776" y="2058300"/>
            <a:ext cx="10755024" cy="646331"/>
          </a:xfrm>
          <a:prstGeom prst="rect">
            <a:avLst/>
          </a:prstGeom>
        </p:spPr>
        <p:txBody>
          <a:bodyPr wrap="square">
            <a:spAutoFit/>
          </a:bodyPr>
          <a:lstStyle/>
          <a:p>
            <a:r>
              <a:rPr lang="en-US"/>
              <a:t>A transfer learning technique that updates the parameters of a pretrained model by training for additional epochs using a different task from that used for pretraining.</a:t>
            </a:r>
          </a:p>
        </p:txBody>
      </p:sp>
    </p:spTree>
    <p:extLst>
      <p:ext uri="{BB962C8B-B14F-4D97-AF65-F5344CB8AC3E}">
        <p14:creationId xmlns:p14="http://schemas.microsoft.com/office/powerpoint/2010/main" val="18064462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12</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4071436" cy="400110"/>
          </a:xfrm>
          <a:prstGeom prst="rect">
            <a:avLst/>
          </a:prstGeom>
          <a:noFill/>
        </p:spPr>
        <p:txBody>
          <a:bodyPr wrap="none" rtlCol="0">
            <a:spAutoFit/>
          </a:bodyPr>
          <a:lstStyle/>
          <a:p>
            <a:pPr fontAlgn="base"/>
            <a:r>
              <a:rPr lang="en-US" sz="2000" b="1"/>
              <a:t>What Our Image Recognizer Learned</a:t>
            </a:r>
          </a:p>
        </p:txBody>
      </p:sp>
      <p:sp>
        <p:nvSpPr>
          <p:cNvPr id="9" name="Rectangle 8"/>
          <p:cNvSpPr/>
          <p:nvPr/>
        </p:nvSpPr>
        <p:spPr>
          <a:xfrm>
            <a:off x="598777" y="1672486"/>
            <a:ext cx="10755023" cy="923330"/>
          </a:xfrm>
          <a:prstGeom prst="rect">
            <a:avLst/>
          </a:prstGeom>
        </p:spPr>
        <p:txBody>
          <a:bodyPr wrap="square">
            <a:spAutoFit/>
          </a:bodyPr>
          <a:lstStyle/>
          <a:p>
            <a:r>
              <a:rPr lang="en-US"/>
              <a:t>At this stage, we have an image recognizer that is working well, but we have no idea what it is doing! Although many people complain that deep learning results in impenetrable “black box” models (that is, something that gives predictions but that no one can understand)</a:t>
            </a:r>
          </a:p>
        </p:txBody>
      </p:sp>
      <p:sp>
        <p:nvSpPr>
          <p:cNvPr id="13" name="Rectangle 12"/>
          <p:cNvSpPr/>
          <p:nvPr/>
        </p:nvSpPr>
        <p:spPr>
          <a:xfrm>
            <a:off x="598778" y="2693716"/>
            <a:ext cx="3617626" cy="2308324"/>
          </a:xfrm>
          <a:prstGeom prst="rect">
            <a:avLst/>
          </a:prstGeom>
        </p:spPr>
        <p:txBody>
          <a:bodyPr wrap="square">
            <a:spAutoFit/>
          </a:bodyPr>
          <a:lstStyle/>
          <a:p>
            <a:pPr algn="just"/>
            <a:r>
              <a:rPr lang="en-US"/>
              <a:t>When we fine-tuned our pretrained model earlier, we adapted what those last layers focus on (flowers, humans, animals) to specialize on the cats versus dogs problem. More generally, we could specialize such a pretrained model on many different tasks.</a:t>
            </a:r>
          </a:p>
        </p:txBody>
      </p:sp>
      <p:pic>
        <p:nvPicPr>
          <p:cNvPr id="14" name="Picture 13"/>
          <p:cNvPicPr>
            <a:picLocks noChangeAspect="1"/>
          </p:cNvPicPr>
          <p:nvPr/>
        </p:nvPicPr>
        <p:blipFill>
          <a:blip r:embed="rId2"/>
          <a:stretch>
            <a:fillRect/>
          </a:stretch>
        </p:blipFill>
        <p:spPr>
          <a:xfrm>
            <a:off x="4670213" y="2642028"/>
            <a:ext cx="6629616" cy="3224624"/>
          </a:xfrm>
          <a:prstGeom prst="rect">
            <a:avLst/>
          </a:prstGeom>
        </p:spPr>
      </p:pic>
      <p:sp>
        <p:nvSpPr>
          <p:cNvPr id="15" name="Rectangle 14"/>
          <p:cNvSpPr/>
          <p:nvPr/>
        </p:nvSpPr>
        <p:spPr>
          <a:xfrm>
            <a:off x="5598822" y="5952679"/>
            <a:ext cx="4992136" cy="369332"/>
          </a:xfrm>
          <a:prstGeom prst="rect">
            <a:avLst/>
          </a:prstGeom>
        </p:spPr>
        <p:txBody>
          <a:bodyPr wrap="none">
            <a:spAutoFit/>
          </a:bodyPr>
          <a:lstStyle/>
          <a:p>
            <a:r>
              <a:rPr lang="en-US"/>
              <a:t>Figure </a:t>
            </a:r>
            <a:r>
              <a:rPr lang="en-US" smtClean="0"/>
              <a:t>1-5. </a:t>
            </a:r>
            <a:r>
              <a:rPr lang="en-US"/>
              <a:t>Activations of the second layer of a CNN</a:t>
            </a:r>
          </a:p>
        </p:txBody>
      </p:sp>
      <p:sp>
        <p:nvSpPr>
          <p:cNvPr id="17" name="TextBox 16"/>
          <p:cNvSpPr txBox="1"/>
          <p:nvPr/>
        </p:nvSpPr>
        <p:spPr>
          <a:xfrm>
            <a:off x="598777" y="5494529"/>
            <a:ext cx="3917805" cy="646331"/>
          </a:xfrm>
          <a:prstGeom prst="rect">
            <a:avLst/>
          </a:prstGeom>
          <a:noFill/>
        </p:spPr>
        <p:txBody>
          <a:bodyPr wrap="square" rtlCol="0">
            <a:spAutoFit/>
          </a:bodyPr>
          <a:lstStyle/>
          <a:p>
            <a:r>
              <a:rPr lang="en-US" b="1"/>
              <a:t>Paper</a:t>
            </a:r>
            <a:r>
              <a:rPr lang="en-US"/>
              <a:t>: </a:t>
            </a:r>
            <a:r>
              <a:rPr lang="en-US" i="1">
                <a:hlinkClick r:id="rId3"/>
              </a:rPr>
              <a:t>Visualizing and Understanding Convolutional Networks</a:t>
            </a:r>
            <a:endParaRPr lang="en-US" i="1"/>
          </a:p>
        </p:txBody>
      </p:sp>
    </p:spTree>
    <p:extLst>
      <p:ext uri="{BB962C8B-B14F-4D97-AF65-F5344CB8AC3E}">
        <p14:creationId xmlns:p14="http://schemas.microsoft.com/office/powerpoint/2010/main" val="289403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13</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5174686" cy="400110"/>
          </a:xfrm>
          <a:prstGeom prst="rect">
            <a:avLst/>
          </a:prstGeom>
          <a:noFill/>
        </p:spPr>
        <p:txBody>
          <a:bodyPr wrap="none" rtlCol="0">
            <a:spAutoFit/>
          </a:bodyPr>
          <a:lstStyle/>
          <a:p>
            <a:pPr fontAlgn="base"/>
            <a:r>
              <a:rPr lang="en-US" sz="2000" b="1"/>
              <a:t>Image Recognizers Can Tackle Non-Image Tasks</a:t>
            </a:r>
          </a:p>
        </p:txBody>
      </p:sp>
      <p:sp>
        <p:nvSpPr>
          <p:cNvPr id="10" name="Rectangle 9"/>
          <p:cNvSpPr/>
          <p:nvPr/>
        </p:nvSpPr>
        <p:spPr>
          <a:xfrm>
            <a:off x="617422" y="3165402"/>
            <a:ext cx="6273079" cy="1754326"/>
          </a:xfrm>
          <a:prstGeom prst="rect">
            <a:avLst/>
          </a:prstGeom>
        </p:spPr>
        <p:txBody>
          <a:bodyPr wrap="square">
            <a:spAutoFit/>
          </a:bodyPr>
          <a:lstStyle/>
          <a:p>
            <a:r>
              <a:rPr lang="en-US"/>
              <a:t>For instance, a sound can be converted to a </a:t>
            </a:r>
            <a:r>
              <a:rPr lang="en-US" i="1"/>
              <a:t>spectrogram</a:t>
            </a:r>
            <a:r>
              <a:rPr lang="en-US"/>
              <a:t>, which is a chart that shows the amount of each frequency at each time in an audio file. Fast.ai student Ethan Sutin used this approach to easily beat the published accuracy of a state-of-the-art environmental sound detection model using a dataset of 8,732 urban sounds</a:t>
            </a:r>
          </a:p>
        </p:txBody>
      </p:sp>
      <p:pic>
        <p:nvPicPr>
          <p:cNvPr id="11" name="Picture 10"/>
          <p:cNvPicPr>
            <a:picLocks noChangeAspect="1"/>
          </p:cNvPicPr>
          <p:nvPr/>
        </p:nvPicPr>
        <p:blipFill>
          <a:blip r:embed="rId2"/>
          <a:stretch>
            <a:fillRect/>
          </a:stretch>
        </p:blipFill>
        <p:spPr>
          <a:xfrm>
            <a:off x="7081737" y="1174476"/>
            <a:ext cx="4389826" cy="4532168"/>
          </a:xfrm>
          <a:prstGeom prst="rect">
            <a:avLst/>
          </a:prstGeom>
        </p:spPr>
      </p:pic>
      <p:sp>
        <p:nvSpPr>
          <p:cNvPr id="12" name="Rectangle 11"/>
          <p:cNvSpPr/>
          <p:nvPr/>
        </p:nvSpPr>
        <p:spPr>
          <a:xfrm>
            <a:off x="6733902" y="5740983"/>
            <a:ext cx="5085495" cy="369332"/>
          </a:xfrm>
          <a:prstGeom prst="rect">
            <a:avLst/>
          </a:prstGeom>
        </p:spPr>
        <p:txBody>
          <a:bodyPr wrap="none">
            <a:spAutoFit/>
          </a:bodyPr>
          <a:lstStyle/>
          <a:p>
            <a:r>
              <a:rPr lang="en-US" i="1">
                <a:solidFill>
                  <a:srgbClr val="000000"/>
                </a:solidFill>
                <a:latin typeface="Times New Roman" panose="02020603050405020304" pitchFamily="18" charset="0"/>
              </a:rPr>
              <a:t>Figure </a:t>
            </a:r>
            <a:r>
              <a:rPr lang="en-US" i="1" smtClean="0">
                <a:solidFill>
                  <a:srgbClr val="000000"/>
                </a:solidFill>
                <a:latin typeface="Times New Roman" panose="02020603050405020304" pitchFamily="18" charset="0"/>
              </a:rPr>
              <a:t>1-6.</a:t>
            </a:r>
            <a:r>
              <a:rPr lang="en-US" i="1">
                <a:solidFill>
                  <a:srgbClr val="000000"/>
                </a:solidFill>
                <a:latin typeface="Times New Roman" panose="02020603050405020304" pitchFamily="18" charset="0"/>
              </a:rPr>
              <a:t> show_batch with spectrograms of sounds</a:t>
            </a:r>
            <a:endParaRPr lang="en-US"/>
          </a:p>
        </p:txBody>
      </p:sp>
      <p:sp>
        <p:nvSpPr>
          <p:cNvPr id="17" name="Rectangle 16"/>
          <p:cNvSpPr/>
          <p:nvPr/>
        </p:nvSpPr>
        <p:spPr>
          <a:xfrm>
            <a:off x="585824" y="5552297"/>
            <a:ext cx="5759975" cy="369332"/>
          </a:xfrm>
          <a:prstGeom prst="rect">
            <a:avLst/>
          </a:prstGeom>
        </p:spPr>
        <p:txBody>
          <a:bodyPr wrap="none">
            <a:spAutoFit/>
          </a:bodyPr>
          <a:lstStyle/>
          <a:p>
            <a:r>
              <a:rPr lang="en-US" b="1" smtClean="0"/>
              <a:t>Web</a:t>
            </a:r>
            <a:r>
              <a:rPr lang="en-US" i="1" smtClean="0"/>
              <a:t>: </a:t>
            </a:r>
            <a:r>
              <a:rPr lang="en-US" i="1" smtClean="0">
                <a:hlinkClick r:id="rId3"/>
              </a:rPr>
              <a:t>Great </a:t>
            </a:r>
            <a:r>
              <a:rPr lang="en-US" i="1">
                <a:hlinkClick r:id="rId3"/>
              </a:rPr>
              <a:t>results on audio classification with fastai library</a:t>
            </a:r>
            <a:endParaRPr lang="en-US" i="1"/>
          </a:p>
        </p:txBody>
      </p:sp>
      <p:sp>
        <p:nvSpPr>
          <p:cNvPr id="18" name="Rectangle 17"/>
          <p:cNvSpPr/>
          <p:nvPr/>
        </p:nvSpPr>
        <p:spPr>
          <a:xfrm>
            <a:off x="603266" y="1762948"/>
            <a:ext cx="6096000" cy="1200329"/>
          </a:xfrm>
          <a:prstGeom prst="rect">
            <a:avLst/>
          </a:prstGeom>
        </p:spPr>
        <p:txBody>
          <a:bodyPr>
            <a:spAutoFit/>
          </a:bodyPr>
          <a:lstStyle/>
          <a:p>
            <a:r>
              <a:rPr lang="en-US"/>
              <a:t>An image recognizer can, as its name suggests, only recognize images. But a lot of things can be represented as images, which means that an image recognizer can learn to complete many tasks</a:t>
            </a:r>
          </a:p>
        </p:txBody>
      </p:sp>
    </p:spTree>
    <p:extLst>
      <p:ext uri="{BB962C8B-B14F-4D97-AF65-F5344CB8AC3E}">
        <p14:creationId xmlns:p14="http://schemas.microsoft.com/office/powerpoint/2010/main" val="37596951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14</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5174686" cy="400110"/>
          </a:xfrm>
          <a:prstGeom prst="rect">
            <a:avLst/>
          </a:prstGeom>
          <a:noFill/>
        </p:spPr>
        <p:txBody>
          <a:bodyPr wrap="none" rtlCol="0">
            <a:spAutoFit/>
          </a:bodyPr>
          <a:lstStyle/>
          <a:p>
            <a:pPr fontAlgn="base"/>
            <a:r>
              <a:rPr lang="en-US" sz="2000" b="1"/>
              <a:t>Image Recognizers Can Tackle Non-Image Tasks</a:t>
            </a:r>
          </a:p>
        </p:txBody>
      </p:sp>
      <p:sp>
        <p:nvSpPr>
          <p:cNvPr id="16" name="Rectangle 15"/>
          <p:cNvSpPr/>
          <p:nvPr/>
        </p:nvSpPr>
        <p:spPr>
          <a:xfrm>
            <a:off x="603266" y="1587174"/>
            <a:ext cx="10750534" cy="923330"/>
          </a:xfrm>
          <a:prstGeom prst="rect">
            <a:avLst/>
          </a:prstGeom>
        </p:spPr>
        <p:txBody>
          <a:bodyPr wrap="square">
            <a:spAutoFit/>
          </a:bodyPr>
          <a:lstStyle/>
          <a:p>
            <a:r>
              <a:rPr lang="en-US"/>
              <a:t>A time series can easily be converted into an image by simply plotting the time series on a graph. However, it is often a good idea to try to represent your data in a way that makes it as easy as possible to pull out the most important components. In a time series, things like seasonality and anomalies are most likely to be of interest.</a:t>
            </a:r>
          </a:p>
        </p:txBody>
      </p:sp>
      <p:pic>
        <p:nvPicPr>
          <p:cNvPr id="9" name="Picture 8"/>
          <p:cNvPicPr>
            <a:picLocks noChangeAspect="1"/>
          </p:cNvPicPr>
          <p:nvPr/>
        </p:nvPicPr>
        <p:blipFill>
          <a:blip r:embed="rId2"/>
          <a:stretch>
            <a:fillRect/>
          </a:stretch>
        </p:blipFill>
        <p:spPr>
          <a:xfrm>
            <a:off x="4987636" y="2523092"/>
            <a:ext cx="6747129" cy="3360499"/>
          </a:xfrm>
          <a:prstGeom prst="rect">
            <a:avLst/>
          </a:prstGeom>
        </p:spPr>
      </p:pic>
      <p:sp>
        <p:nvSpPr>
          <p:cNvPr id="13" name="Rectangle 12"/>
          <p:cNvSpPr/>
          <p:nvPr/>
        </p:nvSpPr>
        <p:spPr>
          <a:xfrm>
            <a:off x="598777" y="2693996"/>
            <a:ext cx="4388859" cy="1477328"/>
          </a:xfrm>
          <a:prstGeom prst="rect">
            <a:avLst/>
          </a:prstGeom>
        </p:spPr>
        <p:txBody>
          <a:bodyPr wrap="square">
            <a:spAutoFit/>
          </a:bodyPr>
          <a:lstStyle/>
          <a:p>
            <a:pPr algn="just"/>
            <a:r>
              <a:rPr lang="en-US"/>
              <a:t>For instance, fast.ai student Ignacio Oguiza created images from a time series dataset for olive oil classification, using a technique called Gramian Angular Difference Field (GADF)</a:t>
            </a:r>
          </a:p>
        </p:txBody>
      </p:sp>
      <p:sp>
        <p:nvSpPr>
          <p:cNvPr id="14" name="Rectangle 13"/>
          <p:cNvSpPr/>
          <p:nvPr/>
        </p:nvSpPr>
        <p:spPr>
          <a:xfrm>
            <a:off x="598776" y="4319477"/>
            <a:ext cx="4388859" cy="1200329"/>
          </a:xfrm>
          <a:prstGeom prst="rect">
            <a:avLst/>
          </a:prstGeom>
        </p:spPr>
        <p:txBody>
          <a:bodyPr wrap="square">
            <a:spAutoFit/>
          </a:bodyPr>
          <a:lstStyle/>
          <a:p>
            <a:pPr algn="just"/>
            <a:r>
              <a:rPr lang="en-US"/>
              <a:t>His results, despite having only 30 training set images, were well over 90% accurate, and close to the state of the art.</a:t>
            </a:r>
          </a:p>
          <a:p>
            <a:endParaRPr lang="en-US"/>
          </a:p>
        </p:txBody>
      </p:sp>
      <p:sp>
        <p:nvSpPr>
          <p:cNvPr id="15" name="Rectangle 14"/>
          <p:cNvSpPr/>
          <p:nvPr/>
        </p:nvSpPr>
        <p:spPr>
          <a:xfrm>
            <a:off x="6096000" y="5896179"/>
            <a:ext cx="4829207" cy="369332"/>
          </a:xfrm>
          <a:prstGeom prst="rect">
            <a:avLst/>
          </a:prstGeom>
        </p:spPr>
        <p:txBody>
          <a:bodyPr wrap="none">
            <a:spAutoFit/>
          </a:bodyPr>
          <a:lstStyle/>
          <a:p>
            <a:r>
              <a:rPr lang="en-US"/>
              <a:t>Figure </a:t>
            </a:r>
            <a:r>
              <a:rPr lang="en-US" smtClean="0"/>
              <a:t>1-7. </a:t>
            </a:r>
            <a:r>
              <a:rPr lang="en-US"/>
              <a:t>Converting a time series into an image</a:t>
            </a:r>
          </a:p>
        </p:txBody>
      </p:sp>
    </p:spTree>
    <p:extLst>
      <p:ext uri="{BB962C8B-B14F-4D97-AF65-F5344CB8AC3E}">
        <p14:creationId xmlns:p14="http://schemas.microsoft.com/office/powerpoint/2010/main" val="28441313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15</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5174686" cy="400110"/>
          </a:xfrm>
          <a:prstGeom prst="rect">
            <a:avLst/>
          </a:prstGeom>
          <a:noFill/>
        </p:spPr>
        <p:txBody>
          <a:bodyPr wrap="none" rtlCol="0">
            <a:spAutoFit/>
          </a:bodyPr>
          <a:lstStyle/>
          <a:p>
            <a:pPr fontAlgn="base"/>
            <a:r>
              <a:rPr lang="en-US" sz="2000" b="1"/>
              <a:t>Image Recognizers Can Tackle Non-Image Tasks</a:t>
            </a:r>
          </a:p>
        </p:txBody>
      </p:sp>
      <p:pic>
        <p:nvPicPr>
          <p:cNvPr id="10" name="Picture 9"/>
          <p:cNvPicPr>
            <a:picLocks noChangeAspect="1"/>
          </p:cNvPicPr>
          <p:nvPr/>
        </p:nvPicPr>
        <p:blipFill>
          <a:blip r:embed="rId2"/>
          <a:stretch>
            <a:fillRect/>
          </a:stretch>
        </p:blipFill>
        <p:spPr>
          <a:xfrm>
            <a:off x="5773463" y="1911927"/>
            <a:ext cx="5703379" cy="3811854"/>
          </a:xfrm>
          <a:prstGeom prst="rect">
            <a:avLst/>
          </a:prstGeom>
        </p:spPr>
      </p:pic>
      <p:sp>
        <p:nvSpPr>
          <p:cNvPr id="11" name="Rectangle 10"/>
          <p:cNvSpPr/>
          <p:nvPr/>
        </p:nvSpPr>
        <p:spPr>
          <a:xfrm>
            <a:off x="533401" y="1803791"/>
            <a:ext cx="5008418" cy="2862322"/>
          </a:xfrm>
          <a:prstGeom prst="rect">
            <a:avLst/>
          </a:prstGeom>
        </p:spPr>
        <p:txBody>
          <a:bodyPr wrap="square">
            <a:spAutoFit/>
          </a:bodyPr>
          <a:lstStyle/>
          <a:p>
            <a:pPr algn="just"/>
            <a:r>
              <a:rPr lang="en-US"/>
              <a:t> Gleb </a:t>
            </a:r>
            <a:r>
              <a:rPr lang="en-US" smtClean="0"/>
              <a:t>Esman </a:t>
            </a:r>
            <a:r>
              <a:rPr lang="en-US"/>
              <a:t>was working on fraud detection at Splunk, using a dataset of users’ mouse movements and mouse clicks. He turned these into pictures by drawing an image displaying the position, speed, and acceleration of the mouse pointer by using colored lines, and the clicks were displayed using small colored </a:t>
            </a:r>
            <a:r>
              <a:rPr lang="en-US" smtClean="0"/>
              <a:t>circles. </a:t>
            </a:r>
            <a:r>
              <a:rPr lang="en-US"/>
              <a:t>He fed this into an image recognition model just like the one we’ve used in this chapter, and it worked so well that it led to a patent for this approach to fraud analytics!</a:t>
            </a:r>
          </a:p>
        </p:txBody>
      </p:sp>
      <p:sp>
        <p:nvSpPr>
          <p:cNvPr id="12" name="TextBox 11"/>
          <p:cNvSpPr txBox="1"/>
          <p:nvPr/>
        </p:nvSpPr>
        <p:spPr>
          <a:xfrm>
            <a:off x="533401" y="5188066"/>
            <a:ext cx="4703619" cy="646331"/>
          </a:xfrm>
          <a:prstGeom prst="rect">
            <a:avLst/>
          </a:prstGeom>
          <a:noFill/>
        </p:spPr>
        <p:txBody>
          <a:bodyPr wrap="square" rtlCol="0">
            <a:spAutoFit/>
          </a:bodyPr>
          <a:lstStyle/>
          <a:p>
            <a:r>
              <a:rPr lang="en-US" b="1" smtClean="0"/>
              <a:t>Web</a:t>
            </a:r>
            <a:r>
              <a:rPr lang="en-US" smtClean="0"/>
              <a:t>: </a:t>
            </a:r>
            <a:r>
              <a:rPr lang="en-US" i="1">
                <a:hlinkClick r:id="rId3"/>
              </a:rPr>
              <a:t>Splunk and Tensorflow for </a:t>
            </a:r>
            <a:r>
              <a:rPr lang="en-US" i="1" smtClean="0">
                <a:hlinkClick r:id="rId3"/>
              </a:rPr>
              <a:t>Security</a:t>
            </a:r>
            <a:r>
              <a:rPr lang="en-US" i="1">
                <a:hlinkClick r:id="rId3"/>
              </a:rPr>
              <a:t>: Catching the Fraudster with Behavior </a:t>
            </a:r>
            <a:r>
              <a:rPr lang="en-US" i="1" smtClean="0">
                <a:hlinkClick r:id="rId3"/>
              </a:rPr>
              <a:t>Biometrics</a:t>
            </a:r>
            <a:endParaRPr lang="en-US" i="1"/>
          </a:p>
        </p:txBody>
      </p:sp>
      <p:sp>
        <p:nvSpPr>
          <p:cNvPr id="17" name="Rectangle 16"/>
          <p:cNvSpPr/>
          <p:nvPr/>
        </p:nvSpPr>
        <p:spPr>
          <a:xfrm>
            <a:off x="5738827" y="5834397"/>
            <a:ext cx="5946756" cy="369332"/>
          </a:xfrm>
          <a:prstGeom prst="rect">
            <a:avLst/>
          </a:prstGeom>
        </p:spPr>
        <p:txBody>
          <a:bodyPr wrap="none">
            <a:spAutoFit/>
          </a:bodyPr>
          <a:lstStyle/>
          <a:p>
            <a:r>
              <a:rPr lang="en-US"/>
              <a:t>Figure </a:t>
            </a:r>
            <a:r>
              <a:rPr lang="en-US" smtClean="0"/>
              <a:t>1-8. </a:t>
            </a:r>
            <a:r>
              <a:rPr lang="en-US"/>
              <a:t>Converting computer mouse behavior to an image</a:t>
            </a:r>
          </a:p>
        </p:txBody>
      </p:sp>
    </p:spTree>
    <p:extLst>
      <p:ext uri="{BB962C8B-B14F-4D97-AF65-F5344CB8AC3E}">
        <p14:creationId xmlns:p14="http://schemas.microsoft.com/office/powerpoint/2010/main" val="10239075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16</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5174686" cy="400110"/>
          </a:xfrm>
          <a:prstGeom prst="rect">
            <a:avLst/>
          </a:prstGeom>
          <a:noFill/>
        </p:spPr>
        <p:txBody>
          <a:bodyPr wrap="none" rtlCol="0">
            <a:spAutoFit/>
          </a:bodyPr>
          <a:lstStyle/>
          <a:p>
            <a:pPr fontAlgn="base"/>
            <a:r>
              <a:rPr lang="en-US" sz="2000" b="1"/>
              <a:t>Image Recognizers Can Tackle Non-Image Tasks</a:t>
            </a:r>
          </a:p>
        </p:txBody>
      </p:sp>
      <p:pic>
        <p:nvPicPr>
          <p:cNvPr id="9" name="Picture 8"/>
          <p:cNvPicPr>
            <a:picLocks noChangeAspect="1"/>
          </p:cNvPicPr>
          <p:nvPr/>
        </p:nvPicPr>
        <p:blipFill>
          <a:blip r:embed="rId2"/>
          <a:stretch>
            <a:fillRect/>
          </a:stretch>
        </p:blipFill>
        <p:spPr>
          <a:xfrm>
            <a:off x="1634837" y="4031648"/>
            <a:ext cx="8728377" cy="1969132"/>
          </a:xfrm>
          <a:prstGeom prst="rect">
            <a:avLst/>
          </a:prstGeom>
        </p:spPr>
      </p:pic>
      <p:sp>
        <p:nvSpPr>
          <p:cNvPr id="13" name="Rectangle 12"/>
          <p:cNvSpPr/>
          <p:nvPr/>
        </p:nvSpPr>
        <p:spPr>
          <a:xfrm>
            <a:off x="598776" y="1610081"/>
            <a:ext cx="10872787" cy="923330"/>
          </a:xfrm>
          <a:prstGeom prst="rect">
            <a:avLst/>
          </a:prstGeom>
        </p:spPr>
        <p:txBody>
          <a:bodyPr wrap="square">
            <a:spAutoFit/>
          </a:bodyPr>
          <a:lstStyle/>
          <a:p>
            <a:r>
              <a:rPr lang="en-US"/>
              <a:t>Mahmoud Kalash et al., which explains that “the malware binary file is divided into 8-bit sequences which are then converted to equivalent decimal values. This decimal vector is reshaped and [a] gray-scale image is generated that represent[s] the malware sample</a:t>
            </a:r>
          </a:p>
        </p:txBody>
      </p:sp>
      <p:sp>
        <p:nvSpPr>
          <p:cNvPr id="14" name="Rectangle 13"/>
          <p:cNvSpPr/>
          <p:nvPr/>
        </p:nvSpPr>
        <p:spPr>
          <a:xfrm>
            <a:off x="598776" y="2554320"/>
            <a:ext cx="10755024" cy="923330"/>
          </a:xfrm>
          <a:prstGeom prst="rect">
            <a:avLst/>
          </a:prstGeom>
        </p:spPr>
        <p:txBody>
          <a:bodyPr wrap="square">
            <a:spAutoFit/>
          </a:bodyPr>
          <a:lstStyle/>
          <a:p>
            <a:r>
              <a:rPr lang="en-US"/>
              <a:t>As you can see, the different types of malware look very distinctive to the human eye. The model the researchers trained based on this image representation was more accurate at malware classification than any previous approach shown in the academic literature</a:t>
            </a:r>
            <a:r>
              <a:rPr lang="en-US" smtClean="0"/>
              <a:t>.</a:t>
            </a:r>
            <a:endParaRPr lang="en-US"/>
          </a:p>
        </p:txBody>
      </p:sp>
      <p:sp>
        <p:nvSpPr>
          <p:cNvPr id="15" name="TextBox 14"/>
          <p:cNvSpPr txBox="1"/>
          <p:nvPr/>
        </p:nvSpPr>
        <p:spPr>
          <a:xfrm>
            <a:off x="582939" y="3569983"/>
            <a:ext cx="7082195" cy="369332"/>
          </a:xfrm>
          <a:prstGeom prst="rect">
            <a:avLst/>
          </a:prstGeom>
          <a:noFill/>
        </p:spPr>
        <p:txBody>
          <a:bodyPr wrap="none" rtlCol="0">
            <a:spAutoFit/>
          </a:bodyPr>
          <a:lstStyle/>
          <a:p>
            <a:r>
              <a:rPr lang="en-US" b="1" smtClean="0"/>
              <a:t>Paper</a:t>
            </a:r>
            <a:r>
              <a:rPr lang="en-US" smtClean="0"/>
              <a:t>: </a:t>
            </a:r>
            <a:r>
              <a:rPr lang="en-US" i="1" smtClean="0">
                <a:hlinkClick r:id="rId3"/>
              </a:rPr>
              <a:t>Malware Classification with Deep Convolutional Neural Networks</a:t>
            </a:r>
            <a:endParaRPr lang="en-US" i="1"/>
          </a:p>
        </p:txBody>
      </p:sp>
      <p:sp>
        <p:nvSpPr>
          <p:cNvPr id="10" name="Rectangle 9"/>
          <p:cNvSpPr/>
          <p:nvPr/>
        </p:nvSpPr>
        <p:spPr>
          <a:xfrm>
            <a:off x="3389734" y="5780824"/>
            <a:ext cx="4074833" cy="369332"/>
          </a:xfrm>
          <a:prstGeom prst="rect">
            <a:avLst/>
          </a:prstGeom>
        </p:spPr>
        <p:txBody>
          <a:bodyPr wrap="none">
            <a:spAutoFit/>
          </a:bodyPr>
          <a:lstStyle/>
          <a:p>
            <a:r>
              <a:rPr lang="en-US"/>
              <a:t>Figure </a:t>
            </a:r>
            <a:r>
              <a:rPr lang="en-US" smtClean="0"/>
              <a:t>1-9. </a:t>
            </a:r>
            <a:r>
              <a:rPr lang="en-US"/>
              <a:t>Malware classification process</a:t>
            </a:r>
          </a:p>
        </p:txBody>
      </p:sp>
    </p:spTree>
    <p:extLst>
      <p:ext uri="{BB962C8B-B14F-4D97-AF65-F5344CB8AC3E}">
        <p14:creationId xmlns:p14="http://schemas.microsoft.com/office/powerpoint/2010/main" val="5940610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17</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1578124" cy="400110"/>
          </a:xfrm>
          <a:prstGeom prst="rect">
            <a:avLst/>
          </a:prstGeom>
          <a:noFill/>
        </p:spPr>
        <p:txBody>
          <a:bodyPr wrap="none" rtlCol="0">
            <a:spAutoFit/>
          </a:bodyPr>
          <a:lstStyle/>
          <a:p>
            <a:pPr fontAlgn="base"/>
            <a:r>
              <a:rPr lang="en-US" sz="2000" b="1"/>
              <a:t>Jargon Recap</a:t>
            </a:r>
          </a:p>
        </p:txBody>
      </p:sp>
      <p:graphicFrame>
        <p:nvGraphicFramePr>
          <p:cNvPr id="17" name="Table 16"/>
          <p:cNvGraphicFramePr>
            <a:graphicFrameLocks noGrp="1"/>
          </p:cNvGraphicFramePr>
          <p:nvPr>
            <p:extLst>
              <p:ext uri="{D42A27DB-BD31-4B8C-83A1-F6EECF244321}">
                <p14:modId xmlns:p14="http://schemas.microsoft.com/office/powerpoint/2010/main" val="2004907903"/>
              </p:ext>
            </p:extLst>
          </p:nvPr>
        </p:nvGraphicFramePr>
        <p:xfrm>
          <a:off x="598777" y="1680101"/>
          <a:ext cx="10567987" cy="4414520"/>
        </p:xfrm>
        <a:graphic>
          <a:graphicData uri="http://schemas.openxmlformats.org/drawingml/2006/table">
            <a:tbl>
              <a:tblPr firstRow="1" bandRow="1">
                <a:tableStyleId>{C083E6E3-FA7D-4D7B-A595-EF9225AFEA82}</a:tableStyleId>
              </a:tblPr>
              <a:tblGrid>
                <a:gridCol w="2134723">
                  <a:extLst>
                    <a:ext uri="{9D8B030D-6E8A-4147-A177-3AD203B41FA5}">
                      <a16:colId xmlns:a16="http://schemas.microsoft.com/office/drawing/2014/main" val="710613281"/>
                    </a:ext>
                  </a:extLst>
                </a:gridCol>
                <a:gridCol w="8433264">
                  <a:extLst>
                    <a:ext uri="{9D8B030D-6E8A-4147-A177-3AD203B41FA5}">
                      <a16:colId xmlns:a16="http://schemas.microsoft.com/office/drawing/2014/main" val="1571657216"/>
                    </a:ext>
                  </a:extLst>
                </a:gridCol>
              </a:tblGrid>
              <a:tr h="370840">
                <a:tc>
                  <a:txBody>
                    <a:bodyPr/>
                    <a:lstStyle/>
                    <a:p>
                      <a:r>
                        <a:rPr lang="en-US" sz="1800" kern="1200" smtClean="0">
                          <a:effectLst/>
                        </a:rPr>
                        <a:t>Term</a:t>
                      </a:r>
                      <a:endParaRPr lang="en-US"/>
                    </a:p>
                  </a:txBody>
                  <a:tcPr/>
                </a:tc>
                <a:tc>
                  <a:txBody>
                    <a:bodyPr/>
                    <a:lstStyle/>
                    <a:p>
                      <a:r>
                        <a:rPr lang="en-US" sz="1800" kern="1200" smtClean="0">
                          <a:effectLst/>
                        </a:rPr>
                        <a:t>Meaning</a:t>
                      </a:r>
                      <a:endParaRPr lang="en-US"/>
                    </a:p>
                  </a:txBody>
                  <a:tcPr/>
                </a:tc>
                <a:extLst>
                  <a:ext uri="{0D108BD9-81ED-4DB2-BD59-A6C34878D82A}">
                    <a16:rowId xmlns:a16="http://schemas.microsoft.com/office/drawing/2014/main" val="3412970139"/>
                  </a:ext>
                </a:extLst>
              </a:tr>
              <a:tr h="370840">
                <a:tc>
                  <a:txBody>
                    <a:bodyPr/>
                    <a:lstStyle/>
                    <a:p>
                      <a:r>
                        <a:rPr lang="en-US" sz="1800" kern="1200" smtClean="0">
                          <a:effectLst/>
                        </a:rPr>
                        <a:t>Label</a:t>
                      </a:r>
                      <a:endParaRPr lang="en-US"/>
                    </a:p>
                  </a:txBody>
                  <a:tcPr/>
                </a:tc>
                <a:tc>
                  <a:txBody>
                    <a:bodyPr/>
                    <a:lstStyle/>
                    <a:p>
                      <a:r>
                        <a:rPr lang="en-US" sz="1800" kern="1200" smtClean="0">
                          <a:effectLst/>
                        </a:rPr>
                        <a:t>The data that we’re trying to predict, such as “dog” or “cat”</a:t>
                      </a:r>
                      <a:endParaRPr lang="en-US"/>
                    </a:p>
                  </a:txBody>
                  <a:tcPr/>
                </a:tc>
                <a:extLst>
                  <a:ext uri="{0D108BD9-81ED-4DB2-BD59-A6C34878D82A}">
                    <a16:rowId xmlns:a16="http://schemas.microsoft.com/office/drawing/2014/main" val="1066320691"/>
                  </a:ext>
                </a:extLst>
              </a:tr>
              <a:tr h="370840">
                <a:tc>
                  <a:txBody>
                    <a:bodyPr/>
                    <a:lstStyle/>
                    <a:p>
                      <a:r>
                        <a:rPr lang="en-US" sz="1800" kern="1200" smtClean="0">
                          <a:effectLst/>
                        </a:rPr>
                        <a:t>Architecture</a:t>
                      </a:r>
                      <a:endParaRPr lang="en-US"/>
                    </a:p>
                  </a:txBody>
                  <a:tcPr/>
                </a:tc>
                <a:tc>
                  <a:txBody>
                    <a:bodyPr/>
                    <a:lstStyle/>
                    <a:p>
                      <a:r>
                        <a:rPr lang="en-US" sz="1800" kern="1200" smtClean="0">
                          <a:effectLst/>
                        </a:rPr>
                        <a:t>The template of the model that we’re trying to fit; i.e., the actual mathematical function that we’re passing the input data and parameters to</a:t>
                      </a:r>
                      <a:endParaRPr lang="en-US"/>
                    </a:p>
                  </a:txBody>
                  <a:tcPr/>
                </a:tc>
                <a:extLst>
                  <a:ext uri="{0D108BD9-81ED-4DB2-BD59-A6C34878D82A}">
                    <a16:rowId xmlns:a16="http://schemas.microsoft.com/office/drawing/2014/main" val="428571169"/>
                  </a:ext>
                </a:extLst>
              </a:tr>
              <a:tr h="370840">
                <a:tc>
                  <a:txBody>
                    <a:bodyPr/>
                    <a:lstStyle/>
                    <a:p>
                      <a:r>
                        <a:rPr lang="en-US" sz="1800" kern="1200" smtClean="0">
                          <a:effectLst/>
                        </a:rPr>
                        <a:t>Model</a:t>
                      </a:r>
                      <a:endParaRPr lang="en-US"/>
                    </a:p>
                  </a:txBody>
                  <a:tcPr/>
                </a:tc>
                <a:tc>
                  <a:txBody>
                    <a:bodyPr/>
                    <a:lstStyle/>
                    <a:p>
                      <a:r>
                        <a:rPr lang="en-US" sz="1800" kern="1200" smtClean="0">
                          <a:effectLst/>
                        </a:rPr>
                        <a:t>The combination of the architecture with a particular set of parameters</a:t>
                      </a:r>
                      <a:endParaRPr lang="en-US"/>
                    </a:p>
                  </a:txBody>
                  <a:tcPr/>
                </a:tc>
                <a:extLst>
                  <a:ext uri="{0D108BD9-81ED-4DB2-BD59-A6C34878D82A}">
                    <a16:rowId xmlns:a16="http://schemas.microsoft.com/office/drawing/2014/main" val="1679462795"/>
                  </a:ext>
                </a:extLst>
              </a:tr>
              <a:tr h="370840">
                <a:tc>
                  <a:txBody>
                    <a:bodyPr/>
                    <a:lstStyle/>
                    <a:p>
                      <a:r>
                        <a:rPr lang="en-US" sz="1800" kern="1200" smtClean="0">
                          <a:effectLst/>
                        </a:rPr>
                        <a:t>Parameters</a:t>
                      </a:r>
                      <a:endParaRPr lang="en-US"/>
                    </a:p>
                  </a:txBody>
                  <a:tcPr/>
                </a:tc>
                <a:tc>
                  <a:txBody>
                    <a:bodyPr/>
                    <a:lstStyle/>
                    <a:p>
                      <a:r>
                        <a:rPr lang="en-US" sz="1800" kern="1200" smtClean="0">
                          <a:effectLst/>
                        </a:rPr>
                        <a:t>The values in the model that change what task it can do and that are updated through model training</a:t>
                      </a:r>
                      <a:endParaRPr lang="en-US"/>
                    </a:p>
                  </a:txBody>
                  <a:tcPr/>
                </a:tc>
                <a:extLst>
                  <a:ext uri="{0D108BD9-81ED-4DB2-BD59-A6C34878D82A}">
                    <a16:rowId xmlns:a16="http://schemas.microsoft.com/office/drawing/2014/main" val="1787118819"/>
                  </a:ext>
                </a:extLst>
              </a:tr>
              <a:tr h="370840">
                <a:tc>
                  <a:txBody>
                    <a:bodyPr/>
                    <a:lstStyle/>
                    <a:p>
                      <a:r>
                        <a:rPr lang="en-US" sz="1800" kern="1200" smtClean="0">
                          <a:effectLst/>
                        </a:rPr>
                        <a:t>Fit</a:t>
                      </a:r>
                      <a:endParaRPr lang="en-US"/>
                    </a:p>
                  </a:txBody>
                  <a:tcPr/>
                </a:tc>
                <a:tc>
                  <a:txBody>
                    <a:bodyPr/>
                    <a:lstStyle/>
                    <a:p>
                      <a:r>
                        <a:rPr lang="en-US" sz="1800" kern="1200" smtClean="0">
                          <a:effectLst/>
                        </a:rPr>
                        <a:t>Update the parameters of the model such that the predictions of the model using the input data match the target labels</a:t>
                      </a:r>
                      <a:endParaRPr lang="en-US"/>
                    </a:p>
                  </a:txBody>
                  <a:tcPr/>
                </a:tc>
                <a:extLst>
                  <a:ext uri="{0D108BD9-81ED-4DB2-BD59-A6C34878D82A}">
                    <a16:rowId xmlns:a16="http://schemas.microsoft.com/office/drawing/2014/main" val="3772977821"/>
                  </a:ext>
                </a:extLst>
              </a:tr>
              <a:tr h="370840">
                <a:tc>
                  <a:txBody>
                    <a:bodyPr/>
                    <a:lstStyle/>
                    <a:p>
                      <a:r>
                        <a:rPr lang="en-US" sz="1800" kern="1200" smtClean="0">
                          <a:effectLst/>
                        </a:rPr>
                        <a:t>Train</a:t>
                      </a:r>
                      <a:endParaRPr lang="en-US"/>
                    </a:p>
                  </a:txBody>
                  <a:tcPr/>
                </a:tc>
                <a:tc>
                  <a:txBody>
                    <a:bodyPr/>
                    <a:lstStyle/>
                    <a:p>
                      <a:r>
                        <a:rPr lang="en-US" sz="1800" kern="1200" smtClean="0">
                          <a:effectLst/>
                        </a:rPr>
                        <a:t>A synonym for fit</a:t>
                      </a:r>
                      <a:endParaRPr lang="en-US"/>
                    </a:p>
                  </a:txBody>
                  <a:tcPr/>
                </a:tc>
                <a:extLst>
                  <a:ext uri="{0D108BD9-81ED-4DB2-BD59-A6C34878D82A}">
                    <a16:rowId xmlns:a16="http://schemas.microsoft.com/office/drawing/2014/main" val="2833277238"/>
                  </a:ext>
                </a:extLst>
              </a:tr>
              <a:tr h="370840">
                <a:tc>
                  <a:txBody>
                    <a:bodyPr/>
                    <a:lstStyle/>
                    <a:p>
                      <a:r>
                        <a:rPr lang="en-US" sz="1800" kern="1200" smtClean="0">
                          <a:effectLst/>
                        </a:rPr>
                        <a:t>Pretrained model</a:t>
                      </a:r>
                      <a:endParaRPr lang="en-US"/>
                    </a:p>
                  </a:txBody>
                  <a:tcPr/>
                </a:tc>
                <a:tc>
                  <a:txBody>
                    <a:bodyPr/>
                    <a:lstStyle/>
                    <a:p>
                      <a:r>
                        <a:rPr lang="en-US" sz="1800" kern="1200" smtClean="0">
                          <a:effectLst/>
                        </a:rPr>
                        <a:t>A model that has already been trained, generally using a large dataset, and will be fine-tuned</a:t>
                      </a:r>
                      <a:endParaRPr lang="en-US"/>
                    </a:p>
                  </a:txBody>
                  <a:tcPr/>
                </a:tc>
                <a:extLst>
                  <a:ext uri="{0D108BD9-81ED-4DB2-BD59-A6C34878D82A}">
                    <a16:rowId xmlns:a16="http://schemas.microsoft.com/office/drawing/2014/main" val="1548919317"/>
                  </a:ext>
                </a:extLst>
              </a:tr>
              <a:tr h="370840">
                <a:tc>
                  <a:txBody>
                    <a:bodyPr/>
                    <a:lstStyle/>
                    <a:p>
                      <a:r>
                        <a:rPr lang="en-US" sz="1800" kern="1200" smtClean="0">
                          <a:effectLst/>
                        </a:rPr>
                        <a:t>Fine-tune</a:t>
                      </a:r>
                      <a:endParaRPr lang="en-US"/>
                    </a:p>
                  </a:txBody>
                  <a:tcPr/>
                </a:tc>
                <a:tc>
                  <a:txBody>
                    <a:bodyPr/>
                    <a:lstStyle/>
                    <a:p>
                      <a:r>
                        <a:rPr lang="en-US" sz="1800" kern="1200" smtClean="0">
                          <a:effectLst/>
                        </a:rPr>
                        <a:t>Update a pretrained model for a different task</a:t>
                      </a:r>
                      <a:endParaRPr lang="en-US"/>
                    </a:p>
                  </a:txBody>
                  <a:tcPr/>
                </a:tc>
                <a:extLst>
                  <a:ext uri="{0D108BD9-81ED-4DB2-BD59-A6C34878D82A}">
                    <a16:rowId xmlns:a16="http://schemas.microsoft.com/office/drawing/2014/main" val="3565094001"/>
                  </a:ext>
                </a:extLst>
              </a:tr>
            </a:tbl>
          </a:graphicData>
        </a:graphic>
      </p:graphicFrame>
    </p:spTree>
    <p:extLst>
      <p:ext uri="{BB962C8B-B14F-4D97-AF65-F5344CB8AC3E}">
        <p14:creationId xmlns:p14="http://schemas.microsoft.com/office/powerpoint/2010/main" val="17530951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18</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6" name="TextBox 5"/>
          <p:cNvSpPr txBox="1"/>
          <p:nvPr/>
        </p:nvSpPr>
        <p:spPr>
          <a:xfrm>
            <a:off x="598777" y="1174476"/>
            <a:ext cx="1578124" cy="400110"/>
          </a:xfrm>
          <a:prstGeom prst="rect">
            <a:avLst/>
          </a:prstGeom>
          <a:noFill/>
        </p:spPr>
        <p:txBody>
          <a:bodyPr wrap="none" rtlCol="0">
            <a:spAutoFit/>
          </a:bodyPr>
          <a:lstStyle/>
          <a:p>
            <a:pPr fontAlgn="base"/>
            <a:r>
              <a:rPr lang="en-US" sz="2000" b="1"/>
              <a:t>Jargon Recap</a:t>
            </a:r>
          </a:p>
        </p:txBody>
      </p:sp>
      <p:graphicFrame>
        <p:nvGraphicFramePr>
          <p:cNvPr id="17" name="Table 16"/>
          <p:cNvGraphicFramePr>
            <a:graphicFrameLocks noGrp="1"/>
          </p:cNvGraphicFramePr>
          <p:nvPr>
            <p:extLst>
              <p:ext uri="{D42A27DB-BD31-4B8C-83A1-F6EECF244321}">
                <p14:modId xmlns:p14="http://schemas.microsoft.com/office/powerpoint/2010/main" val="253400849"/>
              </p:ext>
            </p:extLst>
          </p:nvPr>
        </p:nvGraphicFramePr>
        <p:xfrm>
          <a:off x="598777" y="1680101"/>
          <a:ext cx="10567987" cy="3774440"/>
        </p:xfrm>
        <a:graphic>
          <a:graphicData uri="http://schemas.openxmlformats.org/drawingml/2006/table">
            <a:tbl>
              <a:tblPr firstRow="1" bandRow="1">
                <a:tableStyleId>{C083E6E3-FA7D-4D7B-A595-EF9225AFEA82}</a:tableStyleId>
              </a:tblPr>
              <a:tblGrid>
                <a:gridCol w="2134723">
                  <a:extLst>
                    <a:ext uri="{9D8B030D-6E8A-4147-A177-3AD203B41FA5}">
                      <a16:colId xmlns:a16="http://schemas.microsoft.com/office/drawing/2014/main" val="710613281"/>
                    </a:ext>
                  </a:extLst>
                </a:gridCol>
                <a:gridCol w="8433264">
                  <a:extLst>
                    <a:ext uri="{9D8B030D-6E8A-4147-A177-3AD203B41FA5}">
                      <a16:colId xmlns:a16="http://schemas.microsoft.com/office/drawing/2014/main" val="1571657216"/>
                    </a:ext>
                  </a:extLst>
                </a:gridCol>
              </a:tblGrid>
              <a:tr h="370840">
                <a:tc>
                  <a:txBody>
                    <a:bodyPr/>
                    <a:lstStyle/>
                    <a:p>
                      <a:r>
                        <a:rPr lang="en-US" sz="1800" kern="1200" smtClean="0">
                          <a:effectLst/>
                        </a:rPr>
                        <a:t>Term</a:t>
                      </a:r>
                      <a:endParaRPr lang="en-US"/>
                    </a:p>
                  </a:txBody>
                  <a:tcPr/>
                </a:tc>
                <a:tc>
                  <a:txBody>
                    <a:bodyPr/>
                    <a:lstStyle/>
                    <a:p>
                      <a:r>
                        <a:rPr lang="en-US" sz="1800" kern="1200" smtClean="0">
                          <a:effectLst/>
                        </a:rPr>
                        <a:t>Meaning</a:t>
                      </a:r>
                      <a:endParaRPr lang="en-US"/>
                    </a:p>
                  </a:txBody>
                  <a:tcPr/>
                </a:tc>
                <a:extLst>
                  <a:ext uri="{0D108BD9-81ED-4DB2-BD59-A6C34878D82A}">
                    <a16:rowId xmlns:a16="http://schemas.microsoft.com/office/drawing/2014/main" val="3412970139"/>
                  </a:ext>
                </a:extLst>
              </a:tr>
              <a:tr h="370840">
                <a:tc>
                  <a:txBody>
                    <a:bodyPr/>
                    <a:lstStyle/>
                    <a:p>
                      <a:r>
                        <a:rPr lang="en-US" sz="1800" kern="1200" smtClean="0">
                          <a:effectLst/>
                        </a:rPr>
                        <a:t>Epoch</a:t>
                      </a:r>
                      <a:endParaRPr lang="en-US"/>
                    </a:p>
                  </a:txBody>
                  <a:tcPr/>
                </a:tc>
                <a:tc>
                  <a:txBody>
                    <a:bodyPr/>
                    <a:lstStyle/>
                    <a:p>
                      <a:r>
                        <a:rPr lang="en-US" sz="1800" kern="1200" smtClean="0">
                          <a:effectLst/>
                        </a:rPr>
                        <a:t>One complete pass through the input data</a:t>
                      </a:r>
                      <a:endParaRPr lang="en-US"/>
                    </a:p>
                  </a:txBody>
                  <a:tcPr/>
                </a:tc>
                <a:extLst>
                  <a:ext uri="{0D108BD9-81ED-4DB2-BD59-A6C34878D82A}">
                    <a16:rowId xmlns:a16="http://schemas.microsoft.com/office/drawing/2014/main" val="1066320691"/>
                  </a:ext>
                </a:extLst>
              </a:tr>
              <a:tr h="370840">
                <a:tc>
                  <a:txBody>
                    <a:bodyPr/>
                    <a:lstStyle/>
                    <a:p>
                      <a:r>
                        <a:rPr lang="en-US" sz="1800" kern="1200" smtClean="0">
                          <a:effectLst/>
                        </a:rPr>
                        <a:t>Loss</a:t>
                      </a:r>
                      <a:endParaRPr lang="en-US"/>
                    </a:p>
                  </a:txBody>
                  <a:tcPr/>
                </a:tc>
                <a:tc>
                  <a:txBody>
                    <a:bodyPr/>
                    <a:lstStyle/>
                    <a:p>
                      <a:r>
                        <a:rPr lang="en-US" sz="1800" kern="1200" smtClean="0">
                          <a:effectLst/>
                        </a:rPr>
                        <a:t>A measure of how good the model is, chosen to drive training via SGD</a:t>
                      </a:r>
                      <a:endParaRPr lang="en-US"/>
                    </a:p>
                  </a:txBody>
                  <a:tcPr/>
                </a:tc>
                <a:extLst>
                  <a:ext uri="{0D108BD9-81ED-4DB2-BD59-A6C34878D82A}">
                    <a16:rowId xmlns:a16="http://schemas.microsoft.com/office/drawing/2014/main" val="428571169"/>
                  </a:ext>
                </a:extLst>
              </a:tr>
              <a:tr h="370840">
                <a:tc>
                  <a:txBody>
                    <a:bodyPr/>
                    <a:lstStyle/>
                    <a:p>
                      <a:r>
                        <a:rPr lang="en-US" sz="1800" kern="1200" smtClean="0">
                          <a:effectLst/>
                        </a:rPr>
                        <a:t>Metric</a:t>
                      </a:r>
                      <a:endParaRPr lang="en-US"/>
                    </a:p>
                  </a:txBody>
                  <a:tcPr/>
                </a:tc>
                <a:tc>
                  <a:txBody>
                    <a:bodyPr/>
                    <a:lstStyle/>
                    <a:p>
                      <a:r>
                        <a:rPr lang="en-US" sz="1800" kern="1200" smtClean="0">
                          <a:effectLst/>
                        </a:rPr>
                        <a:t>A measurement of how good the model is using the validation set, chosen for human consumption</a:t>
                      </a:r>
                      <a:endParaRPr lang="en-US"/>
                    </a:p>
                  </a:txBody>
                  <a:tcPr/>
                </a:tc>
                <a:extLst>
                  <a:ext uri="{0D108BD9-81ED-4DB2-BD59-A6C34878D82A}">
                    <a16:rowId xmlns:a16="http://schemas.microsoft.com/office/drawing/2014/main" val="1679462795"/>
                  </a:ext>
                </a:extLst>
              </a:tr>
              <a:tr h="370840">
                <a:tc>
                  <a:txBody>
                    <a:bodyPr/>
                    <a:lstStyle/>
                    <a:p>
                      <a:r>
                        <a:rPr lang="en-US" sz="1800" kern="1200" smtClean="0">
                          <a:effectLst/>
                        </a:rPr>
                        <a:t>Validation set</a:t>
                      </a:r>
                      <a:endParaRPr lang="en-US"/>
                    </a:p>
                  </a:txBody>
                  <a:tcPr/>
                </a:tc>
                <a:tc>
                  <a:txBody>
                    <a:bodyPr/>
                    <a:lstStyle/>
                    <a:p>
                      <a:r>
                        <a:rPr lang="en-US" sz="1800" kern="1200" smtClean="0">
                          <a:effectLst/>
                        </a:rPr>
                        <a:t>A set of data held out from training, used only for measuring how good the model is</a:t>
                      </a:r>
                      <a:endParaRPr lang="en-US"/>
                    </a:p>
                  </a:txBody>
                  <a:tcPr/>
                </a:tc>
                <a:extLst>
                  <a:ext uri="{0D108BD9-81ED-4DB2-BD59-A6C34878D82A}">
                    <a16:rowId xmlns:a16="http://schemas.microsoft.com/office/drawing/2014/main" val="1787118819"/>
                  </a:ext>
                </a:extLst>
              </a:tr>
              <a:tr h="370840">
                <a:tc>
                  <a:txBody>
                    <a:bodyPr/>
                    <a:lstStyle/>
                    <a:p>
                      <a:r>
                        <a:rPr lang="en-US" sz="1800" kern="1200" smtClean="0">
                          <a:effectLst/>
                        </a:rPr>
                        <a:t>Training set</a:t>
                      </a:r>
                      <a:endParaRPr lang="en-US"/>
                    </a:p>
                  </a:txBody>
                  <a:tcPr/>
                </a:tc>
                <a:tc>
                  <a:txBody>
                    <a:bodyPr/>
                    <a:lstStyle/>
                    <a:p>
                      <a:r>
                        <a:rPr lang="en-US" sz="1800" kern="1200" smtClean="0">
                          <a:effectLst/>
                        </a:rPr>
                        <a:t>The data used for fitting the model; does not include any data from the validation set</a:t>
                      </a:r>
                      <a:endParaRPr lang="en-US"/>
                    </a:p>
                  </a:txBody>
                  <a:tcPr/>
                </a:tc>
                <a:extLst>
                  <a:ext uri="{0D108BD9-81ED-4DB2-BD59-A6C34878D82A}">
                    <a16:rowId xmlns:a16="http://schemas.microsoft.com/office/drawing/2014/main" val="3772977821"/>
                  </a:ext>
                </a:extLst>
              </a:tr>
              <a:tr h="370840">
                <a:tc>
                  <a:txBody>
                    <a:bodyPr/>
                    <a:lstStyle/>
                    <a:p>
                      <a:r>
                        <a:rPr lang="en-US" sz="1800" kern="1200" smtClean="0">
                          <a:effectLst/>
                        </a:rPr>
                        <a:t>Overfitting</a:t>
                      </a:r>
                      <a:endParaRPr lang="en-US"/>
                    </a:p>
                  </a:txBody>
                  <a:tcPr/>
                </a:tc>
                <a:tc>
                  <a:txBody>
                    <a:bodyPr/>
                    <a:lstStyle/>
                    <a:p>
                      <a:r>
                        <a:rPr lang="en-US" sz="1800" kern="1200" smtClean="0">
                          <a:effectLst/>
                        </a:rPr>
                        <a:t>Training a model in such a way that it remembers specific features of the input data, rather than generalizing well to data not seen during training</a:t>
                      </a:r>
                      <a:endParaRPr lang="en-US"/>
                    </a:p>
                  </a:txBody>
                  <a:tcPr/>
                </a:tc>
                <a:extLst>
                  <a:ext uri="{0D108BD9-81ED-4DB2-BD59-A6C34878D82A}">
                    <a16:rowId xmlns:a16="http://schemas.microsoft.com/office/drawing/2014/main" val="2833277238"/>
                  </a:ext>
                </a:extLst>
              </a:tr>
              <a:tr h="370840">
                <a:tc>
                  <a:txBody>
                    <a:bodyPr/>
                    <a:lstStyle/>
                    <a:p>
                      <a:r>
                        <a:rPr lang="en-US" sz="1800" kern="1200" smtClean="0">
                          <a:effectLst/>
                        </a:rPr>
                        <a:t>CNN</a:t>
                      </a:r>
                      <a:endParaRPr lang="en-US"/>
                    </a:p>
                  </a:txBody>
                  <a:tcPr/>
                </a:tc>
                <a:tc>
                  <a:txBody>
                    <a:bodyPr/>
                    <a:lstStyle/>
                    <a:p>
                      <a:r>
                        <a:rPr lang="en-US" sz="1800" kern="1200" smtClean="0">
                          <a:effectLst/>
                        </a:rPr>
                        <a:t>Convolutional neural network; a type of neural network that works particularly well for computer vision tasks</a:t>
                      </a:r>
                      <a:endParaRPr lang="en-US"/>
                    </a:p>
                  </a:txBody>
                  <a:tcPr/>
                </a:tc>
                <a:extLst>
                  <a:ext uri="{0D108BD9-81ED-4DB2-BD59-A6C34878D82A}">
                    <a16:rowId xmlns:a16="http://schemas.microsoft.com/office/drawing/2014/main" val="1548919317"/>
                  </a:ext>
                </a:extLst>
              </a:tr>
            </a:tbl>
          </a:graphicData>
        </a:graphic>
      </p:graphicFrame>
    </p:spTree>
    <p:extLst>
      <p:ext uri="{BB962C8B-B14F-4D97-AF65-F5344CB8AC3E}">
        <p14:creationId xmlns:p14="http://schemas.microsoft.com/office/powerpoint/2010/main" val="41066618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6702925" cy="523220"/>
          </a:xfrm>
          <a:prstGeom prst="rect">
            <a:avLst/>
          </a:prstGeom>
          <a:noFill/>
        </p:spPr>
        <p:txBody>
          <a:bodyPr wrap="none" rtlCol="0">
            <a:spAutoFit/>
          </a:bodyPr>
          <a:lstStyle/>
          <a:p>
            <a:r>
              <a:rPr lang="en-US" sz="2800" b="1" smtClean="0">
                <a:solidFill>
                  <a:srgbClr val="FF0000"/>
                </a:solidFill>
              </a:rPr>
              <a:t>Learning </a:t>
            </a:r>
            <a:r>
              <a:rPr lang="en-US" sz="2800" b="1">
                <a:solidFill>
                  <a:srgbClr val="FF0000"/>
                </a:solidFill>
              </a:rPr>
              <a:t>Is Not Just for Image Classification </a:t>
            </a:r>
            <a:endParaRPr lang="en-US" sz="2800" b="1" smtClean="0">
              <a:solidFill>
                <a:srgbClr val="FF0000"/>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19</a:t>
            </a:fld>
            <a:endParaRPr lang="en-US"/>
          </a:p>
        </p:txBody>
      </p:sp>
      <p:sp>
        <p:nvSpPr>
          <p:cNvPr id="7" name="Date Placeholder 6"/>
          <p:cNvSpPr>
            <a:spLocks noGrp="1"/>
          </p:cNvSpPr>
          <p:nvPr>
            <p:ph type="dt" sz="half" idx="10"/>
          </p:nvPr>
        </p:nvSpPr>
        <p:spPr>
          <a:xfrm>
            <a:off x="879764" y="6356350"/>
            <a:ext cx="2743200" cy="365125"/>
          </a:xfrm>
        </p:spPr>
        <p:txBody>
          <a:bodyPr/>
          <a:lstStyle/>
          <a:p>
            <a:fld id="{109081EE-B355-4DE8-AF2F-BFA782F34DF4}" type="datetime1">
              <a:rPr lang="en-US" smtClean="0"/>
              <a:t>9/13/2020</a:t>
            </a:fld>
            <a:endParaRPr lang="en-US"/>
          </a:p>
        </p:txBody>
      </p:sp>
      <p:sp>
        <p:nvSpPr>
          <p:cNvPr id="9" name="Rectangle 8"/>
          <p:cNvSpPr/>
          <p:nvPr/>
        </p:nvSpPr>
        <p:spPr>
          <a:xfrm>
            <a:off x="598777" y="2136355"/>
            <a:ext cx="6702925" cy="1477328"/>
          </a:xfrm>
          <a:prstGeom prst="rect">
            <a:avLst/>
          </a:prstGeom>
        </p:spPr>
        <p:txBody>
          <a:bodyPr wrap="square">
            <a:spAutoFit/>
          </a:bodyPr>
          <a:lstStyle/>
          <a:p>
            <a:pPr algn="just"/>
            <a:r>
              <a:rPr lang="en-US"/>
              <a:t>let’s talk about something that is critically important for autonomous vehicles: localizing objects in a picture. If a self-driving car doesn’t know where a pedestrian is, then it doesn’t know how to avoid one! Creating a model that can recognize the content of every individual pixel in an image is called </a:t>
            </a:r>
            <a:r>
              <a:rPr lang="en-US" b="1" i="1"/>
              <a:t>segmentation</a:t>
            </a:r>
            <a:r>
              <a:rPr lang="en-US"/>
              <a:t>.</a:t>
            </a:r>
          </a:p>
        </p:txBody>
      </p:sp>
      <p:pic>
        <p:nvPicPr>
          <p:cNvPr id="10" name="Picture 9"/>
          <p:cNvPicPr>
            <a:picLocks noChangeAspect="1"/>
          </p:cNvPicPr>
          <p:nvPr/>
        </p:nvPicPr>
        <p:blipFill>
          <a:blip r:embed="rId2"/>
          <a:stretch>
            <a:fillRect/>
          </a:stretch>
        </p:blipFill>
        <p:spPr>
          <a:xfrm>
            <a:off x="7690139" y="1042045"/>
            <a:ext cx="3781425" cy="4819650"/>
          </a:xfrm>
          <a:prstGeom prst="rect">
            <a:avLst/>
          </a:prstGeom>
        </p:spPr>
      </p:pic>
      <p:sp>
        <p:nvSpPr>
          <p:cNvPr id="15" name="Rectangle 14"/>
          <p:cNvSpPr/>
          <p:nvPr/>
        </p:nvSpPr>
        <p:spPr>
          <a:xfrm>
            <a:off x="598776" y="3646673"/>
            <a:ext cx="6702925" cy="923330"/>
          </a:xfrm>
          <a:prstGeom prst="rect">
            <a:avLst/>
          </a:prstGeom>
        </p:spPr>
        <p:txBody>
          <a:bodyPr wrap="square">
            <a:spAutoFit/>
          </a:bodyPr>
          <a:lstStyle/>
          <a:p>
            <a:r>
              <a:rPr lang="en-US"/>
              <a:t>We can visualize how well it achieved its task by asking the model to color-code each pixel of an image. As you can see, it nearly perfectly classifies every pixel in every object.</a:t>
            </a:r>
          </a:p>
        </p:txBody>
      </p:sp>
      <p:sp>
        <p:nvSpPr>
          <p:cNvPr id="17" name="TextBox 16"/>
          <p:cNvSpPr txBox="1"/>
          <p:nvPr/>
        </p:nvSpPr>
        <p:spPr>
          <a:xfrm>
            <a:off x="598777" y="4879992"/>
            <a:ext cx="6605588" cy="646331"/>
          </a:xfrm>
          <a:prstGeom prst="rect">
            <a:avLst/>
          </a:prstGeom>
          <a:noFill/>
        </p:spPr>
        <p:txBody>
          <a:bodyPr wrap="square" rtlCol="0">
            <a:spAutoFit/>
          </a:bodyPr>
          <a:lstStyle/>
          <a:p>
            <a:r>
              <a:rPr lang="en-US" b="1"/>
              <a:t>Paper</a:t>
            </a:r>
            <a:r>
              <a:rPr lang="en-US"/>
              <a:t>: </a:t>
            </a:r>
            <a:r>
              <a:rPr lang="en-US" i="1">
                <a:hlinkClick r:id="rId3"/>
              </a:rPr>
              <a:t>Semantic object classes in video: A high-definition ground truth database</a:t>
            </a:r>
            <a:endParaRPr lang="en-US" i="1"/>
          </a:p>
        </p:txBody>
      </p:sp>
      <p:sp>
        <p:nvSpPr>
          <p:cNvPr id="19" name="TextBox 18"/>
          <p:cNvSpPr txBox="1"/>
          <p:nvPr/>
        </p:nvSpPr>
        <p:spPr>
          <a:xfrm>
            <a:off x="598776" y="1626311"/>
            <a:ext cx="1668214" cy="400110"/>
          </a:xfrm>
          <a:prstGeom prst="rect">
            <a:avLst/>
          </a:prstGeom>
          <a:noFill/>
        </p:spPr>
        <p:txBody>
          <a:bodyPr wrap="none" rtlCol="0">
            <a:spAutoFit/>
          </a:bodyPr>
          <a:lstStyle/>
          <a:p>
            <a:r>
              <a:rPr lang="en-US" sz="2000" b="1" smtClean="0"/>
              <a:t>Segmentation</a:t>
            </a:r>
            <a:endParaRPr lang="en-US" sz="2000" b="1"/>
          </a:p>
        </p:txBody>
      </p:sp>
    </p:spTree>
    <p:extLst>
      <p:ext uri="{BB962C8B-B14F-4D97-AF65-F5344CB8AC3E}">
        <p14:creationId xmlns:p14="http://schemas.microsoft.com/office/powerpoint/2010/main" val="93844503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6702925" cy="523220"/>
          </a:xfrm>
          <a:prstGeom prst="rect">
            <a:avLst/>
          </a:prstGeom>
          <a:noFill/>
        </p:spPr>
        <p:txBody>
          <a:bodyPr wrap="none" rtlCol="0">
            <a:spAutoFit/>
          </a:bodyPr>
          <a:lstStyle/>
          <a:p>
            <a:r>
              <a:rPr lang="en-US" sz="2800" b="1" smtClean="0">
                <a:solidFill>
                  <a:srgbClr val="FF0000"/>
                </a:solidFill>
              </a:rPr>
              <a:t>Learning </a:t>
            </a:r>
            <a:r>
              <a:rPr lang="en-US" sz="2800" b="1">
                <a:solidFill>
                  <a:srgbClr val="FF0000"/>
                </a:solidFill>
              </a:rPr>
              <a:t>Is Not Just for Image Classification </a:t>
            </a:r>
            <a:endParaRPr lang="en-US" sz="2800" b="1" smtClean="0">
              <a:solidFill>
                <a:srgbClr val="FF0000"/>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20</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1" name="Rectangle 10"/>
          <p:cNvSpPr/>
          <p:nvPr/>
        </p:nvSpPr>
        <p:spPr>
          <a:xfrm>
            <a:off x="598777" y="2060428"/>
            <a:ext cx="10755023" cy="923330"/>
          </a:xfrm>
          <a:prstGeom prst="rect">
            <a:avLst/>
          </a:prstGeom>
        </p:spPr>
        <p:txBody>
          <a:bodyPr wrap="square">
            <a:spAutoFit/>
          </a:bodyPr>
          <a:lstStyle/>
          <a:p>
            <a:r>
              <a:rPr lang="en-US"/>
              <a:t>One other area where deep learning has dramatically improved in the last couple of years is </a:t>
            </a:r>
            <a:r>
              <a:rPr lang="en-US" b="1" i="1"/>
              <a:t>natural language processing </a:t>
            </a:r>
            <a:r>
              <a:rPr lang="en-US"/>
              <a:t>(NLP). Computers can now generate text, translate automatically from one language to another, analyze comments, label words in sentences, and much more.</a:t>
            </a:r>
          </a:p>
        </p:txBody>
      </p:sp>
      <p:sp>
        <p:nvSpPr>
          <p:cNvPr id="12" name="Rectangle 11"/>
          <p:cNvSpPr/>
          <p:nvPr/>
        </p:nvSpPr>
        <p:spPr>
          <a:xfrm>
            <a:off x="598775" y="3107503"/>
            <a:ext cx="10755023" cy="646331"/>
          </a:xfrm>
          <a:prstGeom prst="rect">
            <a:avLst/>
          </a:prstGeom>
        </p:spPr>
        <p:txBody>
          <a:bodyPr wrap="square">
            <a:spAutoFit/>
          </a:bodyPr>
          <a:lstStyle/>
          <a:p>
            <a:r>
              <a:rPr lang="en-US"/>
              <a:t>This model is using the </a:t>
            </a:r>
            <a:r>
              <a:rPr lang="en-US">
                <a:hlinkClick r:id="rId2"/>
              </a:rPr>
              <a:t>IMDb Large Movie Review dataset </a:t>
            </a:r>
            <a:r>
              <a:rPr lang="en-US"/>
              <a:t>from “</a:t>
            </a:r>
            <a:r>
              <a:rPr lang="en-US">
                <a:hlinkClick r:id="rId3"/>
              </a:rPr>
              <a:t>Learning Word Vectors for Sentiment Analysis</a:t>
            </a:r>
            <a:r>
              <a:rPr lang="en-US"/>
              <a:t>” by Andrew Maas et al. It works well with movie reviews of many thousands </a:t>
            </a:r>
            <a:r>
              <a:rPr lang="en-US"/>
              <a:t>of </a:t>
            </a:r>
            <a:r>
              <a:rPr lang="en-US" smtClean="0"/>
              <a:t>words.</a:t>
            </a:r>
            <a:endParaRPr lang="en-US"/>
          </a:p>
        </p:txBody>
      </p:sp>
      <p:sp>
        <p:nvSpPr>
          <p:cNvPr id="13" name="Rectangle 12"/>
          <p:cNvSpPr/>
          <p:nvPr/>
        </p:nvSpPr>
        <p:spPr>
          <a:xfrm>
            <a:off x="598775" y="4148995"/>
            <a:ext cx="10755023" cy="923330"/>
          </a:xfrm>
          <a:prstGeom prst="rect">
            <a:avLst/>
          </a:prstGeom>
        </p:spPr>
        <p:txBody>
          <a:bodyPr wrap="square">
            <a:spAutoFit/>
          </a:bodyPr>
          <a:lstStyle/>
          <a:p>
            <a:r>
              <a:rPr lang="en-US"/>
              <a:t>Data that is in the form of a table, such as from a spreadsheet, database, or a comma-separated values (CSV) file. A </a:t>
            </a:r>
            <a:r>
              <a:rPr lang="en-US" b="1" i="1"/>
              <a:t>tabular</a:t>
            </a:r>
            <a:r>
              <a:rPr lang="en-US"/>
              <a:t> model is a model that tries to predict one column of a table based on information in other columns of the table.</a:t>
            </a:r>
          </a:p>
        </p:txBody>
      </p:sp>
      <p:sp>
        <p:nvSpPr>
          <p:cNvPr id="14" name="Rectangle 13"/>
          <p:cNvSpPr/>
          <p:nvPr/>
        </p:nvSpPr>
        <p:spPr>
          <a:xfrm>
            <a:off x="598775" y="1606624"/>
            <a:ext cx="3184398" cy="400110"/>
          </a:xfrm>
          <a:prstGeom prst="rect">
            <a:avLst/>
          </a:prstGeom>
        </p:spPr>
        <p:txBody>
          <a:bodyPr wrap="none">
            <a:spAutoFit/>
          </a:bodyPr>
          <a:lstStyle/>
          <a:p>
            <a:r>
              <a:rPr lang="en-US" sz="2000" b="1" smtClean="0"/>
              <a:t>Natural </a:t>
            </a:r>
            <a:r>
              <a:rPr lang="en-US" sz="2000" b="1"/>
              <a:t>language processing</a:t>
            </a:r>
          </a:p>
        </p:txBody>
      </p:sp>
      <p:sp>
        <p:nvSpPr>
          <p:cNvPr id="16" name="Rectangle 15"/>
          <p:cNvSpPr/>
          <p:nvPr/>
        </p:nvSpPr>
        <p:spPr>
          <a:xfrm>
            <a:off x="598775" y="3753834"/>
            <a:ext cx="974754" cy="400110"/>
          </a:xfrm>
          <a:prstGeom prst="rect">
            <a:avLst/>
          </a:prstGeom>
        </p:spPr>
        <p:txBody>
          <a:bodyPr wrap="none">
            <a:spAutoFit/>
          </a:bodyPr>
          <a:lstStyle/>
          <a:p>
            <a:r>
              <a:rPr lang="en-US" sz="2000" b="1"/>
              <a:t>T</a:t>
            </a:r>
            <a:r>
              <a:rPr lang="en-US" sz="2000" b="1" smtClean="0"/>
              <a:t>abular</a:t>
            </a:r>
            <a:endParaRPr lang="en-US" sz="2000"/>
          </a:p>
        </p:txBody>
      </p:sp>
      <p:sp>
        <p:nvSpPr>
          <p:cNvPr id="18" name="Rectangle 17"/>
          <p:cNvSpPr/>
          <p:nvPr/>
        </p:nvSpPr>
        <p:spPr>
          <a:xfrm>
            <a:off x="626918" y="5124609"/>
            <a:ext cx="10938164" cy="923330"/>
          </a:xfrm>
          <a:prstGeom prst="rect">
            <a:avLst/>
          </a:prstGeom>
        </p:spPr>
        <p:txBody>
          <a:bodyPr wrap="square">
            <a:spAutoFit/>
          </a:bodyPr>
          <a:lstStyle/>
          <a:p>
            <a:r>
              <a:rPr lang="en-US" b="1" i="1" smtClean="0"/>
              <a:t>Recommendation</a:t>
            </a:r>
            <a:r>
              <a:rPr lang="en-US" smtClean="0"/>
              <a:t> </a:t>
            </a:r>
            <a:r>
              <a:rPr lang="en-US"/>
              <a:t>systems are important, particularly in ecommerce. Companies like Amazon and Netflix try hard to recommend products or movies that users might like. Here’s how to train a model that will predict movies people might like based on their previous viewing habits, using the </a:t>
            </a:r>
            <a:r>
              <a:rPr lang="en-US">
                <a:hlinkClick r:id="rId4"/>
              </a:rPr>
              <a:t>MovieLens dataset</a:t>
            </a:r>
            <a:r>
              <a:rPr lang="en-US"/>
              <a:t>:</a:t>
            </a:r>
          </a:p>
        </p:txBody>
      </p:sp>
    </p:spTree>
    <p:extLst>
      <p:ext uri="{BB962C8B-B14F-4D97-AF65-F5344CB8AC3E}">
        <p14:creationId xmlns:p14="http://schemas.microsoft.com/office/powerpoint/2010/main" val="30731169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4533805" cy="523220"/>
          </a:xfrm>
          <a:prstGeom prst="rect">
            <a:avLst/>
          </a:prstGeom>
          <a:noFill/>
        </p:spPr>
        <p:txBody>
          <a:bodyPr wrap="none" rtlCol="0">
            <a:spAutoFit/>
          </a:bodyPr>
          <a:lstStyle/>
          <a:p>
            <a:r>
              <a:rPr lang="en-US" sz="2800" b="1" smtClean="0">
                <a:solidFill>
                  <a:srgbClr val="FF0000"/>
                </a:solidFill>
              </a:rPr>
              <a:t>Validation </a:t>
            </a:r>
            <a:r>
              <a:rPr lang="en-US" sz="2800" b="1">
                <a:solidFill>
                  <a:srgbClr val="FF0000"/>
                </a:solidFill>
              </a:rPr>
              <a:t>Sets and Test Sets</a:t>
            </a:r>
            <a:endParaRPr lang="en-US" sz="2800" b="1" smtClean="0">
              <a:solidFill>
                <a:srgbClr val="FF0000"/>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21</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9" name="Rectangle 8"/>
          <p:cNvSpPr/>
          <p:nvPr/>
        </p:nvSpPr>
        <p:spPr>
          <a:xfrm>
            <a:off x="598776" y="1665293"/>
            <a:ext cx="10872787" cy="1200329"/>
          </a:xfrm>
          <a:prstGeom prst="rect">
            <a:avLst/>
          </a:prstGeom>
        </p:spPr>
        <p:txBody>
          <a:bodyPr wrap="square">
            <a:spAutoFit/>
          </a:bodyPr>
          <a:lstStyle/>
          <a:p>
            <a:r>
              <a:rPr lang="en-US"/>
              <a:t>If we trained a model with all our data and then evaluated the model using that </a:t>
            </a:r>
            <a:r>
              <a:rPr lang="en-US" i="1"/>
              <a:t>same data</a:t>
            </a:r>
            <a:r>
              <a:rPr lang="en-US"/>
              <a:t>, we would not be able to tell how well our model can perform on data it hasn’t seen. Without this very valuable piece of information to guide us in training our model, there is a very good chance it would </a:t>
            </a:r>
            <a:r>
              <a:rPr lang="en-US" i="1"/>
              <a:t>become good at making predictions </a:t>
            </a:r>
            <a:r>
              <a:rPr lang="en-US"/>
              <a:t>about that data but would </a:t>
            </a:r>
            <a:r>
              <a:rPr lang="en-US" i="1"/>
              <a:t>perform poorly on new data</a:t>
            </a:r>
            <a:r>
              <a:rPr lang="en-US"/>
              <a:t>.</a:t>
            </a:r>
          </a:p>
        </p:txBody>
      </p:sp>
      <p:sp>
        <p:nvSpPr>
          <p:cNvPr id="10" name="Rectangle 9"/>
          <p:cNvSpPr/>
          <p:nvPr/>
        </p:nvSpPr>
        <p:spPr>
          <a:xfrm>
            <a:off x="598776" y="2965650"/>
            <a:ext cx="10755024" cy="923330"/>
          </a:xfrm>
          <a:prstGeom prst="rect">
            <a:avLst/>
          </a:prstGeom>
        </p:spPr>
        <p:txBody>
          <a:bodyPr wrap="square">
            <a:spAutoFit/>
          </a:bodyPr>
          <a:lstStyle/>
          <a:p>
            <a:r>
              <a:rPr lang="en-US"/>
              <a:t>To avoid this, our first step was to split our dataset into two sets</a:t>
            </a:r>
            <a:r>
              <a:rPr lang="en-US" i="1"/>
              <a:t>: the training set </a:t>
            </a:r>
            <a:r>
              <a:rPr lang="en-US"/>
              <a:t>(which our model sees in training) and </a:t>
            </a:r>
            <a:r>
              <a:rPr lang="en-US" i="1"/>
              <a:t>the validation set</a:t>
            </a:r>
            <a:r>
              <a:rPr lang="en-US"/>
              <a:t>, also known as the development set (which is used only for evaluation). This lets us test that the model learns lessons from the training data that generalize to new data, the validation data.</a:t>
            </a:r>
          </a:p>
        </p:txBody>
      </p:sp>
      <p:sp>
        <p:nvSpPr>
          <p:cNvPr id="15" name="Rectangle 14"/>
          <p:cNvSpPr/>
          <p:nvPr/>
        </p:nvSpPr>
        <p:spPr>
          <a:xfrm>
            <a:off x="598776" y="3902835"/>
            <a:ext cx="10755024" cy="1200329"/>
          </a:xfrm>
          <a:prstGeom prst="rect">
            <a:avLst/>
          </a:prstGeom>
        </p:spPr>
        <p:txBody>
          <a:bodyPr wrap="square">
            <a:spAutoFit/>
          </a:bodyPr>
          <a:lstStyle/>
          <a:p>
            <a:r>
              <a:rPr lang="en-US"/>
              <a:t>This same discipline can be critical if you intend to hire a third party to perform modeling work on your behalf. A third party might not understand your requirements accurately, or their incentives might even encourage them to misunderstand them. A good test set can greatly mitigate these risks and let you evaluate whether their work solves your actual problem.</a:t>
            </a:r>
          </a:p>
        </p:txBody>
      </p:sp>
    </p:spTree>
    <p:extLst>
      <p:ext uri="{BB962C8B-B14F-4D97-AF65-F5344CB8AC3E}">
        <p14:creationId xmlns:p14="http://schemas.microsoft.com/office/powerpoint/2010/main" val="540073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4533805" cy="523220"/>
          </a:xfrm>
          <a:prstGeom prst="rect">
            <a:avLst/>
          </a:prstGeom>
          <a:noFill/>
        </p:spPr>
        <p:txBody>
          <a:bodyPr wrap="none" rtlCol="0">
            <a:spAutoFit/>
          </a:bodyPr>
          <a:lstStyle/>
          <a:p>
            <a:r>
              <a:rPr lang="en-US" sz="2800" b="1" smtClean="0">
                <a:solidFill>
                  <a:srgbClr val="FF0000"/>
                </a:solidFill>
              </a:rPr>
              <a:t>Validation </a:t>
            </a:r>
            <a:r>
              <a:rPr lang="en-US" sz="2800" b="1">
                <a:solidFill>
                  <a:srgbClr val="FF0000"/>
                </a:solidFill>
              </a:rPr>
              <a:t>Sets and Test Sets</a:t>
            </a:r>
            <a:endParaRPr lang="en-US" sz="2800" b="1" smtClean="0">
              <a:solidFill>
                <a:srgbClr val="FF0000"/>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22</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11" name="Rectangle 10"/>
          <p:cNvSpPr/>
          <p:nvPr/>
        </p:nvSpPr>
        <p:spPr>
          <a:xfrm>
            <a:off x="598777" y="1603736"/>
            <a:ext cx="3874202" cy="400110"/>
          </a:xfrm>
          <a:prstGeom prst="rect">
            <a:avLst/>
          </a:prstGeom>
        </p:spPr>
        <p:txBody>
          <a:bodyPr wrap="none">
            <a:spAutoFit/>
          </a:bodyPr>
          <a:lstStyle/>
          <a:p>
            <a:r>
              <a:rPr lang="en-US" sz="2000" b="1"/>
              <a:t>Use Judgment in Defining Test Sets</a:t>
            </a:r>
          </a:p>
        </p:txBody>
      </p:sp>
      <p:sp>
        <p:nvSpPr>
          <p:cNvPr id="12" name="Rectangle 11"/>
          <p:cNvSpPr/>
          <p:nvPr/>
        </p:nvSpPr>
        <p:spPr>
          <a:xfrm>
            <a:off x="598776" y="2102606"/>
            <a:ext cx="10755023" cy="1200329"/>
          </a:xfrm>
          <a:prstGeom prst="rect">
            <a:avLst/>
          </a:prstGeom>
        </p:spPr>
        <p:txBody>
          <a:bodyPr wrap="square">
            <a:spAutoFit/>
          </a:bodyPr>
          <a:lstStyle/>
          <a:p>
            <a:r>
              <a:rPr lang="en-US"/>
              <a:t>To do a good job of defining a validation set (and possibly a test set), you will sometimes want to do more than just </a:t>
            </a:r>
            <a:r>
              <a:rPr lang="en-US" i="1"/>
              <a:t>randomly grab </a:t>
            </a:r>
            <a:r>
              <a:rPr lang="en-US"/>
              <a:t>a fraction of your original dataset. Remember: a key property of the validation and test sets is that they must be </a:t>
            </a:r>
            <a:r>
              <a:rPr lang="en-US" i="1"/>
              <a:t>representative of the new data </a:t>
            </a:r>
            <a:r>
              <a:rPr lang="en-US"/>
              <a:t>you will see in the future. This may sound like an impossible order! By definition, you haven’t seen this data yet. But you usually still do know some things.</a:t>
            </a:r>
          </a:p>
        </p:txBody>
      </p:sp>
    </p:spTree>
    <p:extLst>
      <p:ext uri="{BB962C8B-B14F-4D97-AF65-F5344CB8AC3E}">
        <p14:creationId xmlns:p14="http://schemas.microsoft.com/office/powerpoint/2010/main" val="40662928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31672" y="665018"/>
            <a:ext cx="184731" cy="553998"/>
          </a:xfrm>
          <a:prstGeom prst="rect">
            <a:avLst/>
          </a:prstGeom>
          <a:noFill/>
        </p:spPr>
        <p:txBody>
          <a:bodyPr wrap="none" rtlCol="0">
            <a:spAutoFit/>
          </a:bodyPr>
          <a:lstStyle/>
          <a:p>
            <a:endParaRPr lang="en-US" sz="3000" b="1"/>
          </a:p>
        </p:txBody>
      </p:sp>
      <p:sp>
        <p:nvSpPr>
          <p:cNvPr id="5" name="Rectangle 4"/>
          <p:cNvSpPr/>
          <p:nvPr/>
        </p:nvSpPr>
        <p:spPr>
          <a:xfrm>
            <a:off x="598777" y="312702"/>
            <a:ext cx="6865790" cy="584775"/>
          </a:xfrm>
          <a:prstGeom prst="rect">
            <a:avLst/>
          </a:prstGeom>
        </p:spPr>
        <p:txBody>
          <a:bodyPr wrap="none">
            <a:spAutoFit/>
          </a:bodyPr>
          <a:lstStyle/>
          <a:p>
            <a:r>
              <a:rPr lang="en-US" sz="3200" b="1" smtClean="0">
                <a:solidFill>
                  <a:schemeClr val="accent1">
                    <a:lumMod val="50000"/>
                  </a:schemeClr>
                </a:solidFill>
              </a:rPr>
              <a:t>Chapter 1: Your Deep Learning Journey</a:t>
            </a:r>
            <a:endParaRPr lang="en-US" sz="3200" b="1">
              <a:solidFill>
                <a:schemeClr val="accent1">
                  <a:lumMod val="50000"/>
                </a:schemeClr>
              </a:solidFill>
            </a:endParaRPr>
          </a:p>
        </p:txBody>
      </p:sp>
      <p:sp>
        <p:nvSpPr>
          <p:cNvPr id="6" name="TextBox 5"/>
          <p:cNvSpPr txBox="1"/>
          <p:nvPr/>
        </p:nvSpPr>
        <p:spPr>
          <a:xfrm>
            <a:off x="598777" y="1042045"/>
            <a:ext cx="2305375" cy="523220"/>
          </a:xfrm>
          <a:prstGeom prst="rect">
            <a:avLst/>
          </a:prstGeom>
          <a:noFill/>
        </p:spPr>
        <p:txBody>
          <a:bodyPr wrap="none" rtlCol="0">
            <a:spAutoFit/>
          </a:bodyPr>
          <a:lstStyle/>
          <a:p>
            <a:r>
              <a:rPr lang="en-US" sz="2800" b="1">
                <a:solidFill>
                  <a:srgbClr val="FF0000"/>
                </a:solidFill>
              </a:rPr>
              <a:t>Questionnaire</a:t>
            </a:r>
            <a:endParaRPr lang="en-US" sz="2800" b="1" smtClean="0">
              <a:solidFill>
                <a:srgbClr val="FF0000"/>
              </a:solidFill>
            </a:endParaRPr>
          </a:p>
        </p:txBody>
      </p:sp>
      <p:cxnSp>
        <p:nvCxnSpPr>
          <p:cNvPr id="8" name="Straight Connector 7"/>
          <p:cNvCxnSpPr/>
          <p:nvPr/>
        </p:nvCxnSpPr>
        <p:spPr>
          <a:xfrm flipV="1">
            <a:off x="598777" y="897477"/>
            <a:ext cx="10872787" cy="44540"/>
          </a:xfrm>
          <a:prstGeom prst="line">
            <a:avLst/>
          </a:prstGeom>
        </p:spPr>
        <p:style>
          <a:lnRef idx="1">
            <a:schemeClr val="accent1"/>
          </a:lnRef>
          <a:fillRef idx="0">
            <a:schemeClr val="accent1"/>
          </a:fillRef>
          <a:effectRef idx="0">
            <a:schemeClr val="accent1"/>
          </a:effectRef>
          <a:fontRef idx="minor">
            <a:schemeClr val="tx1"/>
          </a:fontRef>
        </p:style>
      </p:cxnSp>
      <p:sp>
        <p:nvSpPr>
          <p:cNvPr id="2" name="Footer Placeholder 1"/>
          <p:cNvSpPr>
            <a:spLocks noGrp="1"/>
          </p:cNvSpPr>
          <p:nvPr>
            <p:ph type="ftr" sz="quarter" idx="11"/>
          </p:nvPr>
        </p:nvSpPr>
        <p:spPr/>
        <p:txBody>
          <a:bodyPr/>
          <a:lstStyle/>
          <a:p>
            <a:r>
              <a:rPr lang="en-US" smtClean="0"/>
              <a:t>Deep Learning for Coders with fastai and PyTorch</a:t>
            </a:r>
            <a:endParaRPr lang="en-US"/>
          </a:p>
        </p:txBody>
      </p:sp>
      <p:sp>
        <p:nvSpPr>
          <p:cNvPr id="3" name="Slide Number Placeholder 2"/>
          <p:cNvSpPr>
            <a:spLocks noGrp="1"/>
          </p:cNvSpPr>
          <p:nvPr>
            <p:ph type="sldNum" sz="quarter" idx="12"/>
          </p:nvPr>
        </p:nvSpPr>
        <p:spPr/>
        <p:txBody>
          <a:bodyPr/>
          <a:lstStyle/>
          <a:p>
            <a:fld id="{57C1D1D2-449B-426A-9851-D373D9EC211C}" type="slidenum">
              <a:rPr lang="en-US" smtClean="0"/>
              <a:t>23</a:t>
            </a:fld>
            <a:endParaRPr lang="en-US"/>
          </a:p>
        </p:txBody>
      </p:sp>
      <p:sp>
        <p:nvSpPr>
          <p:cNvPr id="7" name="Date Placeholder 6"/>
          <p:cNvSpPr>
            <a:spLocks noGrp="1"/>
          </p:cNvSpPr>
          <p:nvPr>
            <p:ph type="dt" sz="half" idx="10"/>
          </p:nvPr>
        </p:nvSpPr>
        <p:spPr/>
        <p:txBody>
          <a:bodyPr/>
          <a:lstStyle/>
          <a:p>
            <a:fld id="{109081EE-B355-4DE8-AF2F-BFA782F34DF4}" type="datetime1">
              <a:rPr lang="en-US" smtClean="0"/>
              <a:t>9/13/2020</a:t>
            </a:fld>
            <a:endParaRPr lang="en-US"/>
          </a:p>
        </p:txBody>
      </p:sp>
      <p:sp>
        <p:nvSpPr>
          <p:cNvPr id="9" name="Rectangle 8"/>
          <p:cNvSpPr/>
          <p:nvPr/>
        </p:nvSpPr>
        <p:spPr>
          <a:xfrm>
            <a:off x="598777" y="1687467"/>
            <a:ext cx="5261696" cy="4001095"/>
          </a:xfrm>
          <a:prstGeom prst="rect">
            <a:avLst/>
          </a:prstGeom>
        </p:spPr>
        <p:txBody>
          <a:bodyPr wrap="square">
            <a:spAutoFit/>
          </a:bodyPr>
          <a:lstStyle/>
          <a:p>
            <a:r>
              <a:rPr lang="en-US" smtClean="0"/>
              <a:t>1. Do </a:t>
            </a:r>
            <a:r>
              <a:rPr lang="en-US"/>
              <a:t>you need these for deep </a:t>
            </a:r>
            <a:r>
              <a:rPr lang="en-US"/>
              <a:t>learning</a:t>
            </a:r>
            <a:r>
              <a:rPr lang="en-US" smtClean="0"/>
              <a:t>?</a:t>
            </a:r>
            <a:endParaRPr lang="en-US"/>
          </a:p>
          <a:p>
            <a:pPr marL="285750" indent="-285750">
              <a:spcAft>
                <a:spcPts val="600"/>
              </a:spcAft>
              <a:buFont typeface="Wingdings" panose="05000000000000000000" pitchFamily="2" charset="2"/>
              <a:buChar char="§"/>
            </a:pPr>
            <a:r>
              <a:rPr lang="en-US"/>
              <a:t>Lots of </a:t>
            </a:r>
            <a:r>
              <a:rPr lang="en-US"/>
              <a:t>math </a:t>
            </a:r>
            <a:r>
              <a:rPr lang="en-US" smtClean="0"/>
              <a:t>T/</a:t>
            </a:r>
            <a:r>
              <a:rPr lang="en-US" b="1" smtClean="0">
                <a:solidFill>
                  <a:srgbClr val="FF0000"/>
                </a:solidFill>
              </a:rPr>
              <a:t>F</a:t>
            </a:r>
            <a:endParaRPr lang="en-US" b="1">
              <a:solidFill>
                <a:srgbClr val="FF0000"/>
              </a:solidFill>
            </a:endParaRPr>
          </a:p>
          <a:p>
            <a:pPr marL="285750" indent="-285750">
              <a:spcAft>
                <a:spcPts val="600"/>
              </a:spcAft>
              <a:buFont typeface="Wingdings" panose="05000000000000000000" pitchFamily="2" charset="2"/>
              <a:buChar char="§"/>
            </a:pPr>
            <a:r>
              <a:rPr lang="en-US"/>
              <a:t>Lots of </a:t>
            </a:r>
            <a:r>
              <a:rPr lang="en-US"/>
              <a:t>data </a:t>
            </a:r>
            <a:r>
              <a:rPr lang="en-US" smtClean="0"/>
              <a:t>T/</a:t>
            </a:r>
            <a:r>
              <a:rPr lang="en-US" b="1" smtClean="0">
                <a:solidFill>
                  <a:srgbClr val="FF0000"/>
                </a:solidFill>
              </a:rPr>
              <a:t>F</a:t>
            </a:r>
            <a:endParaRPr lang="en-US" b="1">
              <a:solidFill>
                <a:srgbClr val="FF0000"/>
              </a:solidFill>
            </a:endParaRPr>
          </a:p>
          <a:p>
            <a:pPr marL="285750" indent="-285750">
              <a:spcAft>
                <a:spcPts val="600"/>
              </a:spcAft>
              <a:buFont typeface="Wingdings" panose="05000000000000000000" pitchFamily="2" charset="2"/>
              <a:buChar char="§"/>
            </a:pPr>
            <a:r>
              <a:rPr lang="en-US"/>
              <a:t>Lots of expensive </a:t>
            </a:r>
            <a:r>
              <a:rPr lang="en-US"/>
              <a:t>computers </a:t>
            </a:r>
            <a:r>
              <a:rPr lang="en-US" smtClean="0"/>
              <a:t>T/</a:t>
            </a:r>
            <a:r>
              <a:rPr lang="en-US" b="1" smtClean="0">
                <a:solidFill>
                  <a:srgbClr val="FF0000"/>
                </a:solidFill>
              </a:rPr>
              <a:t>F</a:t>
            </a:r>
            <a:endParaRPr lang="en-US" b="1">
              <a:solidFill>
                <a:srgbClr val="FF0000"/>
              </a:solidFill>
            </a:endParaRPr>
          </a:p>
          <a:p>
            <a:pPr marL="285750" indent="-285750">
              <a:spcAft>
                <a:spcPts val="600"/>
              </a:spcAft>
              <a:buFont typeface="Wingdings" panose="05000000000000000000" pitchFamily="2" charset="2"/>
              <a:buChar char="§"/>
            </a:pPr>
            <a:r>
              <a:rPr lang="en-US"/>
              <a:t>A </a:t>
            </a:r>
            <a:r>
              <a:rPr lang="en-US"/>
              <a:t>PhD </a:t>
            </a:r>
            <a:r>
              <a:rPr lang="en-US" smtClean="0"/>
              <a:t>T/</a:t>
            </a:r>
            <a:r>
              <a:rPr lang="en-US" b="1" smtClean="0">
                <a:solidFill>
                  <a:srgbClr val="FF0000"/>
                </a:solidFill>
              </a:rPr>
              <a:t>F</a:t>
            </a:r>
          </a:p>
          <a:p>
            <a:pPr fontAlgn="base"/>
            <a:r>
              <a:rPr lang="en-US" smtClean="0"/>
              <a:t>2. Name </a:t>
            </a:r>
            <a:r>
              <a:rPr lang="en-US"/>
              <a:t>five areas where deep learning is now the best tool in the </a:t>
            </a:r>
            <a:r>
              <a:rPr lang="en-US"/>
              <a:t>world</a:t>
            </a:r>
            <a:r>
              <a:rPr lang="en-US" smtClean="0"/>
              <a:t>.</a:t>
            </a:r>
          </a:p>
          <a:p>
            <a:pPr marL="285750" indent="-285750" fontAlgn="base">
              <a:buFont typeface="Wingdings" panose="05000000000000000000" pitchFamily="2" charset="2"/>
              <a:buChar char="§"/>
            </a:pPr>
            <a:r>
              <a:rPr lang="en-US">
                <a:solidFill>
                  <a:srgbClr val="FF0000"/>
                </a:solidFill>
              </a:rPr>
              <a:t>Natural </a:t>
            </a:r>
            <a:r>
              <a:rPr lang="en-US">
                <a:solidFill>
                  <a:srgbClr val="FF0000"/>
                </a:solidFill>
              </a:rPr>
              <a:t>Language </a:t>
            </a:r>
            <a:r>
              <a:rPr lang="en-US" smtClean="0">
                <a:solidFill>
                  <a:srgbClr val="FF0000"/>
                </a:solidFill>
              </a:rPr>
              <a:t>Processing</a:t>
            </a:r>
          </a:p>
          <a:p>
            <a:pPr marL="285750" indent="-285750" fontAlgn="base">
              <a:buFont typeface="Wingdings" panose="05000000000000000000" pitchFamily="2" charset="2"/>
              <a:buChar char="§"/>
            </a:pPr>
            <a:r>
              <a:rPr lang="en-US">
                <a:solidFill>
                  <a:srgbClr val="FF0000"/>
                </a:solidFill>
              </a:rPr>
              <a:t>Computer </a:t>
            </a:r>
            <a:r>
              <a:rPr lang="en-US" smtClean="0">
                <a:solidFill>
                  <a:srgbClr val="FF0000"/>
                </a:solidFill>
              </a:rPr>
              <a:t>Vision</a:t>
            </a:r>
          </a:p>
          <a:p>
            <a:pPr marL="285750" indent="-285750" fontAlgn="base">
              <a:buFont typeface="Wingdings" panose="05000000000000000000" pitchFamily="2" charset="2"/>
              <a:buChar char="§"/>
            </a:pPr>
            <a:r>
              <a:rPr lang="en-US">
                <a:solidFill>
                  <a:srgbClr val="FF0000"/>
                </a:solidFill>
              </a:rPr>
              <a:t>Recommendation </a:t>
            </a:r>
            <a:r>
              <a:rPr lang="en-US" smtClean="0">
                <a:solidFill>
                  <a:srgbClr val="FF0000"/>
                </a:solidFill>
              </a:rPr>
              <a:t>systems</a:t>
            </a:r>
          </a:p>
          <a:p>
            <a:pPr marL="285750" indent="-285750" fontAlgn="base">
              <a:buFont typeface="Wingdings" panose="05000000000000000000" pitchFamily="2" charset="2"/>
              <a:buChar char="§"/>
            </a:pPr>
            <a:r>
              <a:rPr lang="en-US">
                <a:solidFill>
                  <a:srgbClr val="FF0000"/>
                </a:solidFill>
              </a:rPr>
              <a:t>Medicine</a:t>
            </a:r>
            <a:r>
              <a:rPr lang="en-US">
                <a:solidFill>
                  <a:srgbClr val="FF0000"/>
                </a:solidFill>
              </a:rPr>
              <a:t>  </a:t>
            </a:r>
            <a:endParaRPr lang="en-US" smtClean="0">
              <a:solidFill>
                <a:srgbClr val="FF0000"/>
              </a:solidFill>
            </a:endParaRPr>
          </a:p>
          <a:p>
            <a:pPr marL="285750" indent="-285750" fontAlgn="base">
              <a:buFont typeface="Wingdings" panose="05000000000000000000" pitchFamily="2" charset="2"/>
              <a:buChar char="§"/>
            </a:pPr>
            <a:r>
              <a:rPr lang="en-US" smtClean="0">
                <a:solidFill>
                  <a:srgbClr val="FF0000"/>
                </a:solidFill>
              </a:rPr>
              <a:t>Image </a:t>
            </a:r>
            <a:r>
              <a:rPr lang="en-US">
                <a:solidFill>
                  <a:srgbClr val="FF0000"/>
                </a:solidFill>
              </a:rPr>
              <a:t>generation/enhancement</a:t>
            </a:r>
          </a:p>
          <a:p>
            <a:endParaRPr lang="en-US" b="1">
              <a:solidFill>
                <a:srgbClr val="FF0000"/>
              </a:solidFill>
            </a:endParaRPr>
          </a:p>
        </p:txBody>
      </p:sp>
      <p:sp>
        <p:nvSpPr>
          <p:cNvPr id="10" name="TextBox 9"/>
          <p:cNvSpPr txBox="1"/>
          <p:nvPr/>
        </p:nvSpPr>
        <p:spPr>
          <a:xfrm>
            <a:off x="5600701" y="1565265"/>
            <a:ext cx="5870863" cy="4801314"/>
          </a:xfrm>
          <a:prstGeom prst="rect">
            <a:avLst/>
          </a:prstGeom>
          <a:noFill/>
        </p:spPr>
        <p:txBody>
          <a:bodyPr wrap="square" rtlCol="0">
            <a:spAutoFit/>
          </a:bodyPr>
          <a:lstStyle/>
          <a:p>
            <a:r>
              <a:rPr lang="en-US" smtClean="0"/>
              <a:t>3.</a:t>
            </a:r>
            <a:r>
              <a:rPr lang="en-US"/>
              <a:t> What was the name of the first device that was based on the principle of the artificial </a:t>
            </a:r>
            <a:r>
              <a:rPr lang="en-US"/>
              <a:t>neuron</a:t>
            </a:r>
            <a:r>
              <a:rPr lang="en-US" smtClean="0"/>
              <a:t>?</a:t>
            </a:r>
          </a:p>
          <a:p>
            <a:r>
              <a:rPr lang="en-US">
                <a:solidFill>
                  <a:srgbClr val="FF0000"/>
                </a:solidFill>
              </a:rPr>
              <a:t>Mark I perceptron built by </a:t>
            </a:r>
            <a:r>
              <a:rPr lang="en-US">
                <a:solidFill>
                  <a:srgbClr val="FF0000"/>
                </a:solidFill>
              </a:rPr>
              <a:t>Frank </a:t>
            </a:r>
            <a:r>
              <a:rPr lang="en-US" smtClean="0">
                <a:solidFill>
                  <a:srgbClr val="FF0000"/>
                </a:solidFill>
              </a:rPr>
              <a:t>Rosenblatt </a:t>
            </a:r>
          </a:p>
          <a:p>
            <a:r>
              <a:rPr lang="en-US" smtClean="0"/>
              <a:t>4. </a:t>
            </a:r>
            <a:r>
              <a:rPr lang="en-US"/>
              <a:t>Based on the book of the same name, what are the requirements for parallel distributed processing (</a:t>
            </a:r>
            <a:r>
              <a:rPr lang="en-US"/>
              <a:t>PDP</a:t>
            </a:r>
            <a:r>
              <a:rPr lang="en-US" smtClean="0"/>
              <a:t>)?</a:t>
            </a:r>
          </a:p>
          <a:p>
            <a:pPr marL="285750" indent="-285750">
              <a:buFont typeface="Wingdings" panose="05000000000000000000" pitchFamily="2" charset="2"/>
              <a:buChar char="§"/>
            </a:pPr>
            <a:r>
              <a:rPr lang="en-US">
                <a:solidFill>
                  <a:srgbClr val="FF0000"/>
                </a:solidFill>
              </a:rPr>
              <a:t>A set of </a:t>
            </a:r>
            <a:r>
              <a:rPr lang="en-US" i="1">
                <a:solidFill>
                  <a:srgbClr val="FF0000"/>
                </a:solidFill>
              </a:rPr>
              <a:t>processing units</a:t>
            </a:r>
            <a:endParaRPr lang="en-US">
              <a:solidFill>
                <a:srgbClr val="FF0000"/>
              </a:solidFill>
            </a:endParaRPr>
          </a:p>
          <a:p>
            <a:pPr marL="285750" indent="-285750">
              <a:buFont typeface="Wingdings" panose="05000000000000000000" pitchFamily="2" charset="2"/>
              <a:buChar char="§"/>
            </a:pPr>
            <a:r>
              <a:rPr lang="en-US">
                <a:solidFill>
                  <a:srgbClr val="FF0000"/>
                </a:solidFill>
              </a:rPr>
              <a:t>A </a:t>
            </a:r>
            <a:r>
              <a:rPr lang="en-US" i="1">
                <a:solidFill>
                  <a:srgbClr val="FF0000"/>
                </a:solidFill>
              </a:rPr>
              <a:t>state of activation</a:t>
            </a:r>
            <a:endParaRPr lang="en-US">
              <a:solidFill>
                <a:srgbClr val="FF0000"/>
              </a:solidFill>
            </a:endParaRPr>
          </a:p>
          <a:p>
            <a:pPr marL="285750" indent="-285750">
              <a:buFont typeface="Wingdings" panose="05000000000000000000" pitchFamily="2" charset="2"/>
              <a:buChar char="§"/>
            </a:pPr>
            <a:r>
              <a:rPr lang="en-US">
                <a:solidFill>
                  <a:srgbClr val="FF0000"/>
                </a:solidFill>
              </a:rPr>
              <a:t>An </a:t>
            </a:r>
            <a:r>
              <a:rPr lang="en-US" i="1">
                <a:solidFill>
                  <a:srgbClr val="FF0000"/>
                </a:solidFill>
              </a:rPr>
              <a:t>output function</a:t>
            </a:r>
            <a:r>
              <a:rPr lang="en-US">
                <a:solidFill>
                  <a:srgbClr val="FF0000"/>
                </a:solidFill>
              </a:rPr>
              <a:t> for each unit</a:t>
            </a:r>
          </a:p>
          <a:p>
            <a:pPr marL="285750" indent="-285750">
              <a:buFont typeface="Wingdings" panose="05000000000000000000" pitchFamily="2" charset="2"/>
              <a:buChar char="§"/>
            </a:pPr>
            <a:r>
              <a:rPr lang="en-US">
                <a:solidFill>
                  <a:srgbClr val="FF0000"/>
                </a:solidFill>
              </a:rPr>
              <a:t>A </a:t>
            </a:r>
            <a:r>
              <a:rPr lang="en-US" i="1">
                <a:solidFill>
                  <a:srgbClr val="FF0000"/>
                </a:solidFill>
              </a:rPr>
              <a:t>pattern of connectivity</a:t>
            </a:r>
            <a:r>
              <a:rPr lang="en-US">
                <a:solidFill>
                  <a:srgbClr val="FF0000"/>
                </a:solidFill>
              </a:rPr>
              <a:t> among units</a:t>
            </a:r>
          </a:p>
          <a:p>
            <a:pPr marL="285750" indent="-285750">
              <a:buFont typeface="Wingdings" panose="05000000000000000000" pitchFamily="2" charset="2"/>
              <a:buChar char="§"/>
            </a:pPr>
            <a:r>
              <a:rPr lang="en-US">
                <a:solidFill>
                  <a:srgbClr val="FF0000"/>
                </a:solidFill>
              </a:rPr>
              <a:t>A </a:t>
            </a:r>
            <a:r>
              <a:rPr lang="en-US" i="1">
                <a:solidFill>
                  <a:srgbClr val="FF0000"/>
                </a:solidFill>
              </a:rPr>
              <a:t>propagation rule</a:t>
            </a:r>
            <a:r>
              <a:rPr lang="en-US">
                <a:solidFill>
                  <a:srgbClr val="FF0000"/>
                </a:solidFill>
              </a:rPr>
              <a:t> for propagating patterns of activities through the network of connectivities</a:t>
            </a:r>
          </a:p>
          <a:p>
            <a:pPr marL="285750" indent="-285750">
              <a:buFont typeface="Wingdings" panose="05000000000000000000" pitchFamily="2" charset="2"/>
              <a:buChar char="§"/>
            </a:pPr>
            <a:r>
              <a:rPr lang="en-US">
                <a:solidFill>
                  <a:srgbClr val="FF0000"/>
                </a:solidFill>
              </a:rPr>
              <a:t>An </a:t>
            </a:r>
            <a:r>
              <a:rPr lang="en-US" i="1">
                <a:solidFill>
                  <a:srgbClr val="FF0000"/>
                </a:solidFill>
              </a:rPr>
              <a:t>activation rule</a:t>
            </a:r>
            <a:r>
              <a:rPr lang="en-US">
                <a:solidFill>
                  <a:srgbClr val="FF0000"/>
                </a:solidFill>
              </a:rPr>
              <a:t> for combining the inputs impinging on a unit with the current state of that unit to produce a new level of activation for the unit</a:t>
            </a:r>
          </a:p>
          <a:p>
            <a:pPr marL="285750" indent="-285750">
              <a:buFont typeface="Wingdings" panose="05000000000000000000" pitchFamily="2" charset="2"/>
              <a:buChar char="§"/>
            </a:pPr>
            <a:r>
              <a:rPr lang="en-US">
                <a:solidFill>
                  <a:srgbClr val="FF0000"/>
                </a:solidFill>
              </a:rPr>
              <a:t>A </a:t>
            </a:r>
            <a:r>
              <a:rPr lang="en-US" i="1">
                <a:solidFill>
                  <a:srgbClr val="FF0000"/>
                </a:solidFill>
              </a:rPr>
              <a:t>learning rule</a:t>
            </a:r>
            <a:r>
              <a:rPr lang="en-US">
                <a:solidFill>
                  <a:srgbClr val="FF0000"/>
                </a:solidFill>
              </a:rPr>
              <a:t> whereby patterns of connectivity are modified by experience</a:t>
            </a:r>
          </a:p>
          <a:p>
            <a:pPr marL="285750" indent="-285750">
              <a:buFont typeface="Wingdings" panose="05000000000000000000" pitchFamily="2" charset="2"/>
              <a:buChar char="§"/>
            </a:pPr>
            <a:r>
              <a:rPr lang="en-US">
                <a:solidFill>
                  <a:srgbClr val="FF0000"/>
                </a:solidFill>
              </a:rPr>
              <a:t>An </a:t>
            </a:r>
            <a:r>
              <a:rPr lang="en-US" i="1">
                <a:solidFill>
                  <a:srgbClr val="FF0000"/>
                </a:solidFill>
              </a:rPr>
              <a:t>environment</a:t>
            </a:r>
            <a:r>
              <a:rPr lang="en-US">
                <a:solidFill>
                  <a:srgbClr val="FF0000"/>
                </a:solidFill>
              </a:rPr>
              <a:t> within which the system </a:t>
            </a:r>
            <a:r>
              <a:rPr lang="en-US">
                <a:solidFill>
                  <a:srgbClr val="FF0000"/>
                </a:solidFill>
              </a:rPr>
              <a:t>must </a:t>
            </a:r>
            <a:r>
              <a:rPr lang="en-US" smtClean="0">
                <a:solidFill>
                  <a:srgbClr val="FF0000"/>
                </a:solidFill>
              </a:rPr>
              <a:t>operate</a:t>
            </a:r>
            <a:endParaRPr lang="en-US">
              <a:solidFill>
                <a:srgbClr val="FF0000"/>
              </a:solidFill>
            </a:endParaRPr>
          </a:p>
        </p:txBody>
      </p:sp>
    </p:spTree>
    <p:extLst>
      <p:ext uri="{BB962C8B-B14F-4D97-AF65-F5344CB8AC3E}">
        <p14:creationId xmlns:p14="http://schemas.microsoft.com/office/powerpoint/2010/main" val="5944691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531</TotalTime>
  <Words>3474</Words>
  <Application>Microsoft Office PowerPoint</Application>
  <PresentationFormat>Widescreen</PresentationFormat>
  <Paragraphs>280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61</cp:revision>
  <dcterms:created xsi:type="dcterms:W3CDTF">2020-09-13T02:07:33Z</dcterms:created>
  <dcterms:modified xsi:type="dcterms:W3CDTF">2020-09-13T14:31:13Z</dcterms:modified>
</cp:coreProperties>
</file>